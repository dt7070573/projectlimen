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e074aee3664d7e" /><Relationship Type="http://schemas.openxmlformats.org/officeDocument/2006/relationships/extended-properties" Target="/docProps/app.xml" Id="R0709c22ae2254b8f" /><Relationship Type="http://schemas.openxmlformats.org/officeDocument/2006/relationships/officeDocument" Target="/ppt/presentation.xml" Id="Rba9d6a4f31ec45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df472b0ee34f8c"/>
  </p:sldMasterIdLst>
  <p:notesMasterIdLst>
    <p:notesMasterId xmlns:r="http://schemas.openxmlformats.org/officeDocument/2006/relationships" r:id="R9e18e18e45544d71"/>
  </p:notesMasterIdLst>
  <p:sldIdLst>
    <p:sldId xmlns:r="http://schemas.openxmlformats.org/officeDocument/2006/relationships" id="256" r:id="R8a60b44b6c164b0c"/>
    <p:sldId xmlns:r="http://schemas.openxmlformats.org/officeDocument/2006/relationships" id="257" r:id="R2d53d1d28f0a4c44"/>
    <p:sldId xmlns:r="http://schemas.openxmlformats.org/officeDocument/2006/relationships" id="258" r:id="R33c18ea720fb470b"/>
    <p:sldId xmlns:r="http://schemas.openxmlformats.org/officeDocument/2006/relationships" id="259" r:id="R7bd0a0c2155d42ed"/>
    <p:sldId xmlns:r="http://schemas.openxmlformats.org/officeDocument/2006/relationships" id="260" r:id="R019b7d7fed584699"/>
    <p:sldId xmlns:r="http://schemas.openxmlformats.org/officeDocument/2006/relationships" id="261" r:id="R0b3716fe113244ef"/>
    <p:sldId xmlns:r="http://schemas.openxmlformats.org/officeDocument/2006/relationships" id="262" r:id="R419f76eff3274137"/>
    <p:sldId xmlns:r="http://schemas.openxmlformats.org/officeDocument/2006/relationships" id="263" r:id="R8c6b8844f2b846ab"/>
    <p:sldId xmlns:r="http://schemas.openxmlformats.org/officeDocument/2006/relationships" id="264" r:id="Rc2437f7c87ba4d11"/>
    <p:sldId xmlns:r="http://schemas.openxmlformats.org/officeDocument/2006/relationships" id="265" r:id="R16779270d8114032"/>
    <p:sldId xmlns:r="http://schemas.openxmlformats.org/officeDocument/2006/relationships" id="266" r:id="Rbfb7de47f0bc4f51"/>
    <p:sldId xmlns:r="http://schemas.openxmlformats.org/officeDocument/2006/relationships" id="267" r:id="R0b942c4333834765"/>
    <p:sldId xmlns:r="http://schemas.openxmlformats.org/officeDocument/2006/relationships" id="268" r:id="Rae87183dbce04360"/>
    <p:sldId xmlns:r="http://schemas.openxmlformats.org/officeDocument/2006/relationships" id="269" r:id="R625b63735c40473c"/>
    <p:sldId xmlns:r="http://schemas.openxmlformats.org/officeDocument/2006/relationships" id="270" r:id="R1cfe14df27f74fbc"/>
    <p:sldId xmlns:r="http://schemas.openxmlformats.org/officeDocument/2006/relationships" id="271" r:id="R1fe9f4132eb24fde"/>
    <p:sldId xmlns:r="http://schemas.openxmlformats.org/officeDocument/2006/relationships" id="272" r:id="R9414314c083d4e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d018b49eb745ae" /><Relationship Type="http://schemas.openxmlformats.org/officeDocument/2006/relationships/slideMaster" Target="/ppt/slideMasters/slideMaster1.xml" Id="R29df472b0ee34f8c" /><Relationship Type="http://schemas.openxmlformats.org/officeDocument/2006/relationships/notesMaster" Target="/ppt/notesMasters/notesMaster1.xml" Id="R9e18e18e45544d71" /><Relationship Type="http://schemas.openxmlformats.org/officeDocument/2006/relationships/presProps" Target="/ppt/presProps.xml" Id="R198c60558c1c4a28" /><Relationship Type="http://schemas.openxmlformats.org/officeDocument/2006/relationships/tableStyles" Target="/ppt/tableStyles.xml" Id="Rd86b1f20e89d4077" /><Relationship Type="http://schemas.openxmlformats.org/officeDocument/2006/relationships/slide" Target="/ppt/slides/slide1.xml" Id="R8a60b44b6c164b0c" /><Relationship Type="http://schemas.openxmlformats.org/officeDocument/2006/relationships/slide" Target="/ppt/slides/slide2.xml" Id="R2d53d1d28f0a4c44" /><Relationship Type="http://schemas.openxmlformats.org/officeDocument/2006/relationships/slide" Target="/ppt/slides/slide3.xml" Id="R33c18ea720fb470b" /><Relationship Type="http://schemas.openxmlformats.org/officeDocument/2006/relationships/slide" Target="/ppt/slides/slide4.xml" Id="R7bd0a0c2155d42ed" /><Relationship Type="http://schemas.openxmlformats.org/officeDocument/2006/relationships/slide" Target="/ppt/slides/slide5.xml" Id="R019b7d7fed584699" /><Relationship Type="http://schemas.openxmlformats.org/officeDocument/2006/relationships/slide" Target="/ppt/slides/slide6.xml" Id="R0b3716fe113244ef" /><Relationship Type="http://schemas.openxmlformats.org/officeDocument/2006/relationships/slide" Target="/ppt/slides/slide7.xml" Id="R419f76eff3274137" /><Relationship Type="http://schemas.openxmlformats.org/officeDocument/2006/relationships/slide" Target="/ppt/slides/slide8.xml" Id="R8c6b8844f2b846ab" /><Relationship Type="http://schemas.openxmlformats.org/officeDocument/2006/relationships/slide" Target="/ppt/slides/slide9.xml" Id="Rc2437f7c87ba4d11" /><Relationship Type="http://schemas.openxmlformats.org/officeDocument/2006/relationships/slide" Target="/ppt/slides/slide10.xml" Id="R16779270d8114032" /><Relationship Type="http://schemas.openxmlformats.org/officeDocument/2006/relationships/slide" Target="/ppt/slides/slide11.xml" Id="Rbfb7de47f0bc4f51" /><Relationship Type="http://schemas.openxmlformats.org/officeDocument/2006/relationships/slide" Target="/ppt/slides/slide12.xml" Id="R0b942c4333834765" /><Relationship Type="http://schemas.openxmlformats.org/officeDocument/2006/relationships/slide" Target="/ppt/slides/slide13.xml" Id="Rae87183dbce04360" /><Relationship Type="http://schemas.openxmlformats.org/officeDocument/2006/relationships/slide" Target="/ppt/slides/slide14.xml" Id="R625b63735c40473c" /><Relationship Type="http://schemas.openxmlformats.org/officeDocument/2006/relationships/slide" Target="/ppt/slides/slide15.xml" Id="R1cfe14df27f74fbc" /><Relationship Type="http://schemas.openxmlformats.org/officeDocument/2006/relationships/slide" Target="/ppt/slides/slide16.xml" Id="R1fe9f4132eb24fde" /><Relationship Type="http://schemas.openxmlformats.org/officeDocument/2006/relationships/slide" Target="/ppt/slides/slide17.xml" Id="R9414314c083d4e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609406f16c43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8f609ef8a64608" /><Relationship Type="http://schemas.openxmlformats.org/officeDocument/2006/relationships/notesMaster" Target="/ppt/notesMasters/notesMaster1.xml" Id="R10952fd72d944d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b14744037404f04" /><Relationship Type="http://schemas.openxmlformats.org/officeDocument/2006/relationships/notesMaster" Target="/ppt/notesMasters/notesMaster1.xml" Id="Ra233dc3f042b40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944460304d4aa5" /><Relationship Type="http://schemas.openxmlformats.org/officeDocument/2006/relationships/notesMaster" Target="/ppt/notesMasters/notesMaster1.xml" Id="R35d3c43a5b6d462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19aca88e424c43" /><Relationship Type="http://schemas.openxmlformats.org/officeDocument/2006/relationships/notesMaster" Target="/ppt/notesMasters/notesMaster1.xml" Id="R2a38e7b18c9348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a42b417f2a41d8" /><Relationship Type="http://schemas.openxmlformats.org/officeDocument/2006/relationships/notesMaster" Target="/ppt/notesMasters/notesMaster1.xml" Id="R4da54bf04af6481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5cc7c738bd469c" /><Relationship Type="http://schemas.openxmlformats.org/officeDocument/2006/relationships/notesMaster" Target="/ppt/notesMasters/notesMaster1.xml" Id="Rec44262bfd82491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bab12867354143" /><Relationship Type="http://schemas.openxmlformats.org/officeDocument/2006/relationships/notesMaster" Target="/ppt/notesMasters/notesMaster1.xml" Id="Rdb892ee0aee141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4717e1f2ee4521" /><Relationship Type="http://schemas.openxmlformats.org/officeDocument/2006/relationships/notesMaster" Target="/ppt/notesMasters/notesMaster1.xml" Id="Ra8aa9c7fc14b403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6d5488c20fb40a4" /><Relationship Type="http://schemas.openxmlformats.org/officeDocument/2006/relationships/notesMaster" Target="/ppt/notesMasters/notesMaster1.xml" Id="R4ef89c210e4f445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93d3cc83e6d4f2c" /><Relationship Type="http://schemas.openxmlformats.org/officeDocument/2006/relationships/notesMaster" Target="/ppt/notesMasters/notesMaster1.xml" Id="Rcacb5df06f344c4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3b5658369cc4238" /><Relationship Type="http://schemas.openxmlformats.org/officeDocument/2006/relationships/notesMaster" Target="/ppt/notesMasters/notesMaster1.xml" Id="Rda3043e1779c438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22fdf733def46d1" /><Relationship Type="http://schemas.openxmlformats.org/officeDocument/2006/relationships/notesMaster" Target="/ppt/notesMasters/notesMaster1.xml" Id="Rb1e45bc632964c3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dc90075273a418a" /><Relationship Type="http://schemas.openxmlformats.org/officeDocument/2006/relationships/notesMaster" Target="/ppt/notesMasters/notesMaster1.xml" Id="R416082e4f026498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834453c528447cc" /><Relationship Type="http://schemas.openxmlformats.org/officeDocument/2006/relationships/notesMaster" Target="/ppt/notesMasters/notesMaster1.xml" Id="R5a87a3a76a5441d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11a23ccbddb40f2" /><Relationship Type="http://schemas.openxmlformats.org/officeDocument/2006/relationships/notesMaster" Target="/ppt/notesMasters/notesMaster1.xml" Id="Re33836b5ab354b8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407191ff9a446a2" /><Relationship Type="http://schemas.openxmlformats.org/officeDocument/2006/relationships/notesMaster" Target="/ppt/notesMasters/notesMaster1.xml" Id="Rbce6fb3cea754b6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27e1e2000e44d51" /><Relationship Type="http://schemas.openxmlformats.org/officeDocument/2006/relationships/notesMaster" Target="/ppt/notesMasters/notesMaster1.xml" Id="R2b0cee5e0a6e4b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92c08a330147e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293642522541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5cc447858749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cc47f40f4f41e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1bd34585dc41d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08976b8ecf4d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FFA905C-AB3B-4C0E-9560-D58CAEB4F2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38706E3-288A-45D0-81C7-9361729B45D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B9B5AF0-7FF7-4FC4-BFB9-B3C8DE901B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CF0B19C-DBE5-4319-ABA1-D39C887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C02D13D-6682-4863-8776-30B96549AE8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1B47B78-F6BC-478A-A4E8-2440584D01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6106552-7C58-42BB-A426-33765A2B936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02B85D1-7197-498B-90FF-A68BC664D3A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B413F0D-E895-4EA5-AC4F-58431A9616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3454783-0064-4AB3-A871-14A815DB71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6ee6d079c6b475c" /><Relationship Type="http://schemas.openxmlformats.org/officeDocument/2006/relationships/slideLayout" Target="/ppt/slideLayouts/slideLayout1.xml" Id="Rb7940701a7254cef" /><Relationship Type="http://schemas.openxmlformats.org/officeDocument/2006/relationships/slideLayout" Target="/ppt/slideLayouts/slideLayout2.xml" Id="R7e70f8c7f0f141df" /><Relationship Type="http://schemas.openxmlformats.org/officeDocument/2006/relationships/slideLayout" Target="/ppt/slideLayouts/slideLayout3.xml" Id="Rcccd6df6afaa4792" /><Relationship Type="http://schemas.openxmlformats.org/officeDocument/2006/relationships/slideLayout" Target="/ppt/slideLayouts/slideLayout4.xml" Id="Rb9b8cd020cec4407" /><Relationship Type="http://schemas.openxmlformats.org/officeDocument/2006/relationships/slideLayout" Target="/ppt/slideLayouts/slideLayout5.xml" Id="Rc6c074e96fb34706" /><Relationship Type="http://schemas.openxmlformats.org/officeDocument/2006/relationships/slideLayout" Target="/ppt/slideLayouts/slideLayout6.xml" Id="R1eb0d39c64a740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940701a7254cef"/>
    <p:sldLayoutId xmlns:r="http://schemas.openxmlformats.org/officeDocument/2006/relationships" id="2147483650" r:id="R7e70f8c7f0f141df"/>
    <p:sldLayoutId xmlns:r="http://schemas.openxmlformats.org/officeDocument/2006/relationships" id="2147483651" r:id="Rcccd6df6afaa4792"/>
    <p:sldLayoutId xmlns:r="http://schemas.openxmlformats.org/officeDocument/2006/relationships" id="2147483652" r:id="Rb9b8cd020cec4407"/>
    <p:sldLayoutId xmlns:r="http://schemas.openxmlformats.org/officeDocument/2006/relationships" id="2147483653" r:id="Rc6c074e96fb34706"/>
    <p:sldLayoutId xmlns:r="http://schemas.openxmlformats.org/officeDocument/2006/relationships" id="2147483654" r:id="R1eb0d39c64a740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d1170265e4445b" /><Relationship Type="http://schemas.openxmlformats.org/officeDocument/2006/relationships/notesSlide" Target="/ppt/notesSlides/notesSlide1.xml" Id="R78f2cb53cc494d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d5c76c3b0e4fcc" /><Relationship Type="http://schemas.openxmlformats.org/officeDocument/2006/relationships/notesSlide" Target="/ppt/notesSlides/notesSlide2.xml" Id="R914729c390b54c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f27a0e29bc4fe5" /><Relationship Type="http://schemas.openxmlformats.org/officeDocument/2006/relationships/notesSlide" Target="/ppt/notesSlides/notesSlide3.xml" Id="Rcce33cf4c24a497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29eb2904614956" /><Relationship Type="http://schemas.openxmlformats.org/officeDocument/2006/relationships/notesSlide" Target="/ppt/notesSlides/notesSlide4.xml" Id="Rc1527a55a8bc4a9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def63e41fa41a0" /><Relationship Type="http://schemas.openxmlformats.org/officeDocument/2006/relationships/notesSlide" Target="/ppt/notesSlides/notesSlide5.xml" Id="R01532d482dd441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9c1b23539d46c4" /><Relationship Type="http://schemas.openxmlformats.org/officeDocument/2006/relationships/notesSlide" Target="/ppt/notesSlides/notesSlide6.xml" Id="R5708159b088c434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f9bfc5085541c2" /><Relationship Type="http://schemas.openxmlformats.org/officeDocument/2006/relationships/notesSlide" Target="/ppt/notesSlides/notesSlide7.xml" Id="R40126558536f4c7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f52a549a62414a" /><Relationship Type="http://schemas.openxmlformats.org/officeDocument/2006/relationships/notesSlide" Target="/ppt/notesSlides/notesSlide8.xml" Id="R52cc7396a3ed40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5c0d351b6e458d" /><Relationship Type="http://schemas.openxmlformats.org/officeDocument/2006/relationships/notesSlide" Target="/ppt/notesSlides/notesSlide9.xml" Id="R19c27a1d9159414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b367b274e941c3" /><Relationship Type="http://schemas.openxmlformats.org/officeDocument/2006/relationships/notesSlide" Target="/ppt/notesSlides/notesSlide10.xml" Id="R2b73c163ec314aa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37f5ed51054db9" /><Relationship Type="http://schemas.openxmlformats.org/officeDocument/2006/relationships/notesSlide" Target="/ppt/notesSlides/notesSlide11.xml" Id="R15a948f8d85e40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cce93a4fba44dc" /><Relationship Type="http://schemas.openxmlformats.org/officeDocument/2006/relationships/notesSlide" Target="/ppt/notesSlides/notesSlide12.xml" Id="R6ebcf039bf62443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75704bf3e14c12" /><Relationship Type="http://schemas.openxmlformats.org/officeDocument/2006/relationships/notesSlide" Target="/ppt/notesSlides/notesSlide13.xml" Id="Rb9ca21513035426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81e3eebdb9499f" /><Relationship Type="http://schemas.openxmlformats.org/officeDocument/2006/relationships/notesSlide" Target="/ppt/notesSlides/notesSlide14.xml" Id="R85efc0e38bb741c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19516c5b4744b6" /><Relationship Type="http://schemas.openxmlformats.org/officeDocument/2006/relationships/notesSlide" Target="/ppt/notesSlides/notesSlide15.xml" Id="Rbd9fb711cfd746e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179b8058194463" /><Relationship Type="http://schemas.openxmlformats.org/officeDocument/2006/relationships/notesSlide" Target="/ppt/notesSlides/notesSlide16.xml" Id="R2c78cf4d1c7843c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7e7f18df674a63" /><Relationship Type="http://schemas.openxmlformats.org/officeDocument/2006/relationships/notesSlide" Target="/ppt/notesSlides/notesSlide17.xml" Id="R287967b8f47c43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8F9DC0-7325-4F2E-804D-5CC195A2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15EE64-F1AD-41BA-9864-FA94245E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58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PROJECT LIMEN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3C4688-2BDF-407B-A4E5-ECEBB06D6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F2F5F4"/>
                </a:solidFill>
              </a:defRPr>
            </a:defPPr>
            <a:lvl1pPr algn="l">
              <a:defRPr sz="3900" b="1">
                <a:solidFill>
                  <a:srgbClr val="F2F5F4"/>
                </a:solidFill>
              </a:defRPr>
            </a:lvl1pPr>
            <a:lvl2pPr algn="l">
              <a:defRPr sz="3900" b="1">
                <a:solidFill>
                  <a:srgbClr val="F2F5F4"/>
                </a:solidFill>
              </a:defRPr>
            </a:lvl2pPr>
            <a:lvl3pPr algn="l">
              <a:defRPr sz="3900" b="1">
                <a:solidFill>
                  <a:srgbClr val="F2F5F4"/>
                </a:solidFill>
              </a:defRPr>
            </a:lvl3pPr>
            <a:lvl4pPr algn="l">
              <a:defRPr sz="3900" b="1">
                <a:solidFill>
                  <a:srgbClr val="F2F5F4"/>
                </a:solidFill>
              </a:defRPr>
            </a:lvl4pPr>
            <a:lvl5pPr algn="l">
              <a:defRPr sz="3900" b="1">
                <a:solidFill>
                  <a:srgbClr val="F2F5F4"/>
                </a:solidFill>
              </a:defRPr>
            </a:lvl5pPr>
            <a:lvl6pPr algn="l">
              <a:defRPr sz="3900" b="1">
                <a:solidFill>
                  <a:srgbClr val="F2F5F4"/>
                </a:solidFill>
              </a:defRPr>
            </a:lvl6pPr>
            <a:lvl7pPr algn="l">
              <a:defRPr sz="3900" b="1">
                <a:solidFill>
                  <a:srgbClr val="F2F5F4"/>
                </a:solidFill>
              </a:defRPr>
            </a:lvl7pPr>
            <a:lvl8pPr algn="l">
              <a:defRPr sz="3900" b="1">
                <a:solidFill>
                  <a:srgbClr val="F2F5F4"/>
                </a:solidFill>
              </a:defRPr>
            </a:lvl8pPr>
            <a:lvl9pPr algn="l">
              <a:defRPr sz="39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F2F5F4"/>
                </a:solidFill>
              </a:defRPr>
            </a:pPr>
            <a:r>
              <a:rPr sz="3900" b="1">
                <a:solidFill>
                  <a:srgbClr val="F2F5F4"/>
                </a:solidFill>
              </a:rPr>
              <a:t>게임 기획 개요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1CDC4-1D58-4C15-A069-9E6BE25FB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04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A2AFAC"/>
                </a:solidFill>
              </a:defRPr>
            </a:defPPr>
            <a:lvl1pPr algn="l">
              <a:defRPr sz="1875" b="0">
                <a:solidFill>
                  <a:srgbClr val="A2AFAC"/>
                </a:solidFill>
              </a:defRPr>
            </a:lvl1pPr>
            <a:lvl2pPr algn="l">
              <a:defRPr sz="1875" b="0">
                <a:solidFill>
                  <a:srgbClr val="A2AFAC"/>
                </a:solidFill>
              </a:defRPr>
            </a:lvl2pPr>
            <a:lvl3pPr algn="l">
              <a:defRPr sz="1875" b="0">
                <a:solidFill>
                  <a:srgbClr val="A2AFAC"/>
                </a:solidFill>
              </a:defRPr>
            </a:lvl3pPr>
            <a:lvl4pPr algn="l">
              <a:defRPr sz="1875" b="0">
                <a:solidFill>
                  <a:srgbClr val="A2AFAC"/>
                </a:solidFill>
              </a:defRPr>
            </a:lvl4pPr>
            <a:lvl5pPr algn="l">
              <a:defRPr sz="1875" b="0">
                <a:solidFill>
                  <a:srgbClr val="A2AFAC"/>
                </a:solidFill>
              </a:defRPr>
            </a:lvl5pPr>
            <a:lvl6pPr algn="l">
              <a:defRPr sz="1875" b="0">
                <a:solidFill>
                  <a:srgbClr val="A2AFAC"/>
                </a:solidFill>
              </a:defRPr>
            </a:lvl6pPr>
            <a:lvl7pPr algn="l">
              <a:defRPr sz="1875" b="0">
                <a:solidFill>
                  <a:srgbClr val="A2AFAC"/>
                </a:solidFill>
              </a:defRPr>
            </a:lvl7pPr>
            <a:lvl8pPr algn="l">
              <a:defRPr sz="1875" b="0">
                <a:solidFill>
                  <a:srgbClr val="A2AFAC"/>
                </a:solidFill>
              </a:defRPr>
            </a:lvl8pPr>
            <a:lvl9pPr algn="l">
              <a:defRPr sz="18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A2AFAC"/>
                </a:solidFill>
              </a:defRPr>
            </a:pPr>
            <a:r>
              <a:rPr sz="1875" b="0">
                <a:solidFill>
                  <a:srgbClr val="A2AFAC"/>
                </a:solidFill>
              </a:rPr>
              <a:t>1~5인 비동기 익스트랙션 탐사 RPG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4ECB5-1F33-49B9-8D0C-A4ED6420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9550"/>
            <a:ext cx="457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0BC57D-F890-4B5E-8493-654CF8A4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7429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2F5F4"/>
                </a:solidFill>
              </a:defRPr>
            </a:defPPr>
            <a:lvl1pPr algn="l">
              <a:defRPr sz="1725" b="0">
                <a:solidFill>
                  <a:srgbClr val="F2F5F4"/>
                </a:solidFill>
              </a:defRPr>
            </a:lvl1pPr>
            <a:lvl2pPr algn="l">
              <a:defRPr sz="1725" b="0">
                <a:solidFill>
                  <a:srgbClr val="F2F5F4"/>
                </a:solidFill>
              </a:defRPr>
            </a:lvl2pPr>
            <a:lvl3pPr algn="l">
              <a:defRPr sz="1725" b="0">
                <a:solidFill>
                  <a:srgbClr val="F2F5F4"/>
                </a:solidFill>
              </a:defRPr>
            </a:lvl3pPr>
            <a:lvl4pPr algn="l">
              <a:defRPr sz="1725" b="0">
                <a:solidFill>
                  <a:srgbClr val="F2F5F4"/>
                </a:solidFill>
              </a:defRPr>
            </a:lvl4pPr>
            <a:lvl5pPr algn="l">
              <a:defRPr sz="1725" b="0">
                <a:solidFill>
                  <a:srgbClr val="F2F5F4"/>
                </a:solidFill>
              </a:defRPr>
            </a:lvl5pPr>
            <a:lvl6pPr algn="l">
              <a:defRPr sz="1725" b="0">
                <a:solidFill>
                  <a:srgbClr val="F2F5F4"/>
                </a:solidFill>
              </a:defRPr>
            </a:lvl6pPr>
            <a:lvl7pPr algn="l">
              <a:defRPr sz="1725" b="0">
                <a:solidFill>
                  <a:srgbClr val="F2F5F4"/>
                </a:solidFill>
              </a:defRPr>
            </a:lvl7pPr>
            <a:lvl8pPr algn="l">
              <a:defRPr sz="1725" b="0">
                <a:solidFill>
                  <a:srgbClr val="F2F5F4"/>
                </a:solidFill>
              </a:defRPr>
            </a:lvl8pPr>
            <a:lvl9pPr algn="l">
              <a:defRPr sz="172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2F5F4"/>
                </a:solidFill>
              </a:defRPr>
            </a:pPr>
            <a:r>
              <a:rPr sz="1725" b="0">
                <a:solidFill>
                  <a:srgbClr val="F2F5F4"/>
                </a:solidFill>
              </a:rPr>
              <a:t>기묘한 공간에 자캐 탐사대를 보내고</a:t>
            </a:r>
          </a:p>
          <a:p xmlns:a="http://schemas.openxmlformats.org/drawingml/2006/main">
            <a:pPr algn="l">
              <a:defRPr sz="1725" b="0">
                <a:solidFill>
                  <a:srgbClr val="F2F5F4"/>
                </a:solidFill>
              </a:defRPr>
            </a:pPr>
            <a:r>
              <a:rPr sz="1725" b="0">
                <a:solidFill>
                  <a:srgbClr val="F2F5F4"/>
                </a:solidFill>
              </a:rPr>
              <a:t>관계와 전리품을 안고 살아 돌아오는 게임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91CAB4-53A0-471B-8A3B-ED0CDB2C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2AFAC"/>
                </a:solidFill>
              </a:defRPr>
            </a:defPPr>
            <a:lvl1pPr algn="l">
              <a:defRPr sz="1050" b="0">
                <a:solidFill>
                  <a:srgbClr val="A2AFAC"/>
                </a:solidFill>
              </a:defRPr>
            </a:lvl1pPr>
            <a:lvl2pPr algn="l">
              <a:defRPr sz="1050" b="0">
                <a:solidFill>
                  <a:srgbClr val="A2AFAC"/>
                </a:solidFill>
              </a:defRPr>
            </a:lvl2pPr>
            <a:lvl3pPr algn="l">
              <a:defRPr sz="1050" b="0">
                <a:solidFill>
                  <a:srgbClr val="A2AFAC"/>
                </a:solidFill>
              </a:defRPr>
            </a:lvl3pPr>
            <a:lvl4pPr algn="l">
              <a:defRPr sz="1050" b="0">
                <a:solidFill>
                  <a:srgbClr val="A2AFAC"/>
                </a:solidFill>
              </a:defRPr>
            </a:lvl4pPr>
            <a:lvl5pPr algn="l">
              <a:defRPr sz="1050" b="0">
                <a:solidFill>
                  <a:srgbClr val="A2AFAC"/>
                </a:solidFill>
              </a:defRPr>
            </a:lvl5pPr>
            <a:lvl6pPr algn="l">
              <a:defRPr sz="1050" b="0">
                <a:solidFill>
                  <a:srgbClr val="A2AFAC"/>
                </a:solidFill>
              </a:defRPr>
            </a:lvl6pPr>
            <a:lvl7pPr algn="l">
              <a:defRPr sz="1050" b="0">
                <a:solidFill>
                  <a:srgbClr val="A2AFAC"/>
                </a:solidFill>
              </a:defRPr>
            </a:lvl7pPr>
            <a:lvl8pPr algn="l">
              <a:defRPr sz="1050" b="0">
                <a:solidFill>
                  <a:srgbClr val="A2AFAC"/>
                </a:solidFill>
              </a:defRPr>
            </a:lvl8pPr>
            <a:lvl9pPr algn="l">
              <a:defRPr sz="10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2AFAC"/>
                </a:solidFill>
              </a:defRPr>
            </a:pPr>
            <a:r>
              <a:rPr sz="1050" b="0">
                <a:solidFill>
                  <a:srgbClr val="A2AFAC"/>
                </a:solidFill>
              </a:rPr>
              <a:t>기획 기준 2026.10.23</a:t>
            </a:r>
          </a:p>
        </p:txBody>
      </p:sp>
    </p:spTree>
    <p:extLst>
      <p:ext uri="{BB962C8B-B14F-4D97-AF65-F5344CB8AC3E}">
        <p14:creationId xmlns:p14="http://schemas.microsoft.com/office/powerpoint/2010/main" val="9714561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4C8E2B-7FB3-456D-BFB0-8B4667A8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9F2374-1D4C-4E1B-963C-A870046D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FBD520-3A40-49E7-80F3-C2BD62F3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목차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1F3CAD-7721-4E62-9E00-A0CB1E39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56E439-77BF-4157-9CA6-098A5FE4E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45A253-7D15-43C7-B9B6-AFA43E12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907882-B0BE-4E1A-8C37-C7E52C32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4668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게임 정체성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0B377-6D77-4580-A64B-AE021EB4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668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세계관과 코어 재미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15A177-EEA3-42A1-8225-F7BBDD6F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6F2958-7D70-4DE1-8886-79644283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60EEC5-1AA9-4365-A1C9-3F37240D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098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탐사 구조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0779BC-8365-4CD4-8DA0-5A188054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098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플레이 루프와 깊이 선택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E3FD0A-5485-44A7-9FBB-2BF155AA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A053F0-0EE5-44E8-9733-7EA327B0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846B4C-657D-4672-878C-00F0A021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527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캐릭터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E4D58E-56C5-46AC-9AB0-23BBBD5C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527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10개 능력치와 성격 5개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0B1D1A-8CD5-48BC-8BFA-2E8D7150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858342-DB56-4B33-B927-0E2ADD7BC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314DFC-EFF2-4107-BD47-7F591551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957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자동 서사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FC5922-766D-49EC-94A8-E07DD95C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957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행동 경향과 관계 사건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B3EFE6-7FBF-49F6-A148-9EE363AC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48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812184-F347-4173-9995-3FBD2DEA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386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42C0D6-581A-4F1F-A076-1DF6E502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수확과 손실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033101-DB8B-4F35-8719-D74444C7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386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무기·아이템·정보·사망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2B605B-0735-4971-92B6-1303498E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91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72C09B-6EFB-46DF-8922-86AF22A7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816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B43602-966D-4F7B-9887-E15B91959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816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후속 결정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9C6C4E-C692-4910-80DE-0ADF4164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816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밸런스와 구현 쟁점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933665-4E3F-4CDC-BB56-2DD13A2E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849736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D6C38-C675-4CA3-96C5-57E069F5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FAE34D-B5F8-4B0F-9D04-341FFA96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GAME DEFINITION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EE56AF-0C8B-44D2-80F7-87263059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게임 정체성과 코어 재미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B4C897-BEF6-4167-AF50-9EFC176F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24261-C810-4C13-82C9-B8AE54CB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A408E1-D510-416E-9338-9969AF20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104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F2F5F4"/>
                </a:solidFill>
              </a:defRPr>
            </a:defPPr>
            <a:lvl1pPr algn="l">
              <a:defRPr sz="2175" b="1">
                <a:solidFill>
                  <a:srgbClr val="F2F5F4"/>
                </a:solidFill>
              </a:defRPr>
            </a:lvl1pPr>
            <a:lvl2pPr algn="l">
              <a:defRPr sz="2175" b="1">
                <a:solidFill>
                  <a:srgbClr val="F2F5F4"/>
                </a:solidFill>
              </a:defRPr>
            </a:lvl2pPr>
            <a:lvl3pPr algn="l">
              <a:defRPr sz="2175" b="1">
                <a:solidFill>
                  <a:srgbClr val="F2F5F4"/>
                </a:solidFill>
              </a:defRPr>
            </a:lvl3pPr>
            <a:lvl4pPr algn="l">
              <a:defRPr sz="2175" b="1">
                <a:solidFill>
                  <a:srgbClr val="F2F5F4"/>
                </a:solidFill>
              </a:defRPr>
            </a:lvl4pPr>
            <a:lvl5pPr algn="l">
              <a:defRPr sz="2175" b="1">
                <a:solidFill>
                  <a:srgbClr val="F2F5F4"/>
                </a:solidFill>
              </a:defRPr>
            </a:lvl5pPr>
            <a:lvl6pPr algn="l">
              <a:defRPr sz="2175" b="1">
                <a:solidFill>
                  <a:srgbClr val="F2F5F4"/>
                </a:solidFill>
              </a:defRPr>
            </a:lvl6pPr>
            <a:lvl7pPr algn="l">
              <a:defRPr sz="2175" b="1">
                <a:solidFill>
                  <a:srgbClr val="F2F5F4"/>
                </a:solidFill>
              </a:defRPr>
            </a:lvl7pPr>
            <a:lvl8pPr algn="l">
              <a:defRPr sz="2175" b="1">
                <a:solidFill>
                  <a:srgbClr val="F2F5F4"/>
                </a:solidFill>
              </a:defRPr>
            </a:lvl8pPr>
            <a:lvl9pPr algn="l">
              <a:defRPr sz="21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F2F5F4"/>
                </a:solidFill>
              </a:defRPr>
            </a:pPr>
            <a:r>
              <a:rPr sz="2175" b="1">
                <a:solidFill>
                  <a:srgbClr val="F2F5F4"/>
                </a:solidFill>
              </a:rPr>
              <a:t>1~5명의 자캐 탐사대가 기묘한 공간에 진입해</a:t>
            </a:r>
          </a:p>
          <a:p xmlns:a="http://schemas.openxmlformats.org/drawingml/2006/main">
            <a:pPr algn="l">
              <a:defRPr sz="2175" b="1">
                <a:solidFill>
                  <a:srgbClr val="F2F5F4"/>
                </a:solidFill>
              </a:defRPr>
            </a:pPr>
            <a:r>
              <a:rPr sz="2175" b="1">
                <a:solidFill>
                  <a:srgbClr val="F2F5F4"/>
                </a:solidFill>
              </a:rPr>
              <a:t>이상 에너지와 물건을 회수하는 비동기 탐사 게임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73429A-E588-47C9-9C29-D0A2EBB8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384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발견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1ED67F-5C9B-43F1-81D2-6E3B40AD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62300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공간마다 다른 규칙과 희귀 물품을 찾는다.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E28D9B-5EA7-4D7F-96B0-B0C7B295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8384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판단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8D4579-1C4B-4EAE-A1B5-495E8530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162300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현재 성과를 지키고 철수할지 더 깊이 전진할지 고른다.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511881-F1AE-43F3-B8C7-FA1A30DAE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384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관계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4E3D63-05B8-4647-B244-8E96538E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62300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방치된 시간에도 성격과 관계가 사건을 만들고 기록에 남는다.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CD46DB-541C-49A8-A88C-049B6002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36ACBD-8F07-44C5-93F2-5968CFB5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 b="1">
                <a:solidFill>
                  <a:srgbClr val="38D6C4"/>
                </a:solidFill>
              </a:defRPr>
            </a:defPPr>
            <a:lvl1pPr algn="ctr">
              <a:defRPr sz="2100" b="1">
                <a:solidFill>
                  <a:srgbClr val="38D6C4"/>
                </a:solidFill>
              </a:defRPr>
            </a:lvl1pPr>
            <a:lvl2pPr algn="ctr">
              <a:defRPr sz="2100" b="1">
                <a:solidFill>
                  <a:srgbClr val="38D6C4"/>
                </a:solidFill>
              </a:defRPr>
            </a:lvl2pPr>
            <a:lvl3pPr algn="ctr">
              <a:defRPr sz="2100" b="1">
                <a:solidFill>
                  <a:srgbClr val="38D6C4"/>
                </a:solidFill>
              </a:defRPr>
            </a:lvl3pPr>
            <a:lvl4pPr algn="ctr">
              <a:defRPr sz="2100" b="1">
                <a:solidFill>
                  <a:srgbClr val="38D6C4"/>
                </a:solidFill>
              </a:defRPr>
            </a:lvl4pPr>
            <a:lvl5pPr algn="ctr">
              <a:defRPr sz="2100" b="1">
                <a:solidFill>
                  <a:srgbClr val="38D6C4"/>
                </a:solidFill>
              </a:defRPr>
            </a:lvl5pPr>
            <a:lvl6pPr algn="ctr">
              <a:defRPr sz="2100" b="1">
                <a:solidFill>
                  <a:srgbClr val="38D6C4"/>
                </a:solidFill>
              </a:defRPr>
            </a:lvl6pPr>
            <a:lvl7pPr algn="ctr">
              <a:defRPr sz="2100" b="1">
                <a:solidFill>
                  <a:srgbClr val="38D6C4"/>
                </a:solidFill>
              </a:defRPr>
            </a:lvl7pPr>
            <a:lvl8pPr algn="ctr">
              <a:defRPr sz="2100" b="1">
                <a:solidFill>
                  <a:srgbClr val="38D6C4"/>
                </a:solidFill>
              </a:defRPr>
            </a:lvl8pPr>
            <a:lvl9pPr algn="ctr">
              <a:defRPr sz="21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38D6C4"/>
                </a:solidFill>
              </a:defRPr>
            </a:pPr>
            <a:r>
              <a:rPr sz="2100" b="1">
                <a:solidFill>
                  <a:srgbClr val="38D6C4"/>
                </a:solidFill>
              </a:rPr>
              <a:t>귀환하기 전까지 현장의 수확물은 확정되지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3170733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DAEF8E-02F3-4CF0-85DB-4BBBC17D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09BCD2-6C53-4D7B-859C-BEF7085E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WORLD &amp; PLAYER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B30156-5D7A-40A3-AB0F-B2BBDA22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플레이어와 세계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1F200-D2FC-465E-A135-CFECE51B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3757CF-6820-42E6-B06F-FD249F4D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0E963F-B0A5-4409-BF60-077771A1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플레이어의 위치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97B5A-4CE8-4A38-8B46-D3E280A6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유저는 탐사대원 본인이면서 장비·철수 기준·자동 행동 방침을 정하는 관찰자다.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5E075A-E53A-4FDA-9B2B-AEAF27B8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기묘한 공간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448055-2D05-42F1-983B-ED533D22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478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공간은 여러 깊이 단계로 구성된다. 깊어질수록 규칙이 복잡해지고 보상과 손실 위험이 함께 커진다.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D7499F-3888-412E-8EA3-6AFEF3AF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이상 에너지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780332-5027-4B33-B38E-128B29C7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9975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치료·수리·제작·탐사 준비에 쓰는 안정적인 순환 자원이다.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3EC6D5-A549-46AE-BF3D-3A45A154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86125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이상 물품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A4FB22-5065-4B2E-9BE4-17B38133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09975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고유 규칙과 부작용을 가진다. 판매·연구·장착·격리·선물 중 처분 방식을 고른다.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6909BA-CB87-4229-869B-2B6B14CF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8162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A2AFAC"/>
                </a:solidFill>
              </a:defRPr>
            </a:defPPr>
            <a:lvl1pPr algn="ctr">
              <a:defRPr sz="1575" b="1">
                <a:solidFill>
                  <a:srgbClr val="A2AFAC"/>
                </a:solidFill>
              </a:defRPr>
            </a:lvl1pPr>
            <a:lvl2pPr algn="ctr">
              <a:defRPr sz="1575" b="1">
                <a:solidFill>
                  <a:srgbClr val="A2AFAC"/>
                </a:solidFill>
              </a:defRPr>
            </a:lvl2pPr>
            <a:lvl3pPr algn="ctr">
              <a:defRPr sz="1575" b="1">
                <a:solidFill>
                  <a:srgbClr val="A2AFAC"/>
                </a:solidFill>
              </a:defRPr>
            </a:lvl3pPr>
            <a:lvl4pPr algn="ctr">
              <a:defRPr sz="1575" b="1">
                <a:solidFill>
                  <a:srgbClr val="A2AFAC"/>
                </a:solidFill>
              </a:defRPr>
            </a:lvl4pPr>
            <a:lvl5pPr algn="ctr">
              <a:defRPr sz="1575" b="1">
                <a:solidFill>
                  <a:srgbClr val="A2AFAC"/>
                </a:solidFill>
              </a:defRPr>
            </a:lvl5pPr>
            <a:lvl6pPr algn="ctr">
              <a:defRPr sz="1575" b="1">
                <a:solidFill>
                  <a:srgbClr val="A2AFAC"/>
                </a:solidFill>
              </a:defRPr>
            </a:lvl6pPr>
            <a:lvl7pPr algn="ctr">
              <a:defRPr sz="1575" b="1">
                <a:solidFill>
                  <a:srgbClr val="A2AFAC"/>
                </a:solidFill>
              </a:defRPr>
            </a:lvl7pPr>
            <a:lvl8pPr algn="ctr">
              <a:defRPr sz="1575" b="1">
                <a:solidFill>
                  <a:srgbClr val="A2AFAC"/>
                </a:solidFill>
              </a:defRPr>
            </a:lvl8pPr>
            <a:lvl9pPr algn="ctr">
              <a:defRPr sz="1575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A2AFAC"/>
                </a:solidFill>
              </a:defRPr>
            </a:pPr>
            <a:r>
              <a:rPr sz="1575" b="1">
                <a:solidFill>
                  <a:srgbClr val="A2AFAC"/>
                </a:solidFill>
              </a:rPr>
              <a:t>장비와 정보만큼 캐릭터 사이의 관계와 공동 기억도 장기 성장에 포함한다.</a:t>
            </a:r>
          </a:p>
        </p:txBody>
      </p:sp>
    </p:spTree>
    <p:extLst>
      <p:ext uri="{BB962C8B-B14F-4D97-AF65-F5344CB8AC3E}">
        <p14:creationId xmlns:p14="http://schemas.microsoft.com/office/powerpoint/2010/main" val="16715920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1D2100-5EF5-4918-B189-7D6638C5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8F74D9-56AE-46A8-B512-F345FBA0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CORE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8E6A4-7062-49F2-ABB9-2215A9EE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플레이 루프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DB074-D3B8-4CAC-8061-498A6ABB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A62CC8-54C0-4860-8B79-1BD7A29F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55C5B8-52E8-487B-965F-7E130A09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9499E-A5BD-4C1E-B53E-07B9288FB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335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F8188D-0C63-4053-899D-E4DD97D4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335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공간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E58C1F-E2DE-49D4-A913-EDC70DED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위험·규칙·목표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87CA71-5F07-46A3-80E7-869003DA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62100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50470B-89C4-4AA7-9D26-58480F11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7335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960A2A-7FBD-4966-B27D-67AAC13E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335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탐사대 편성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92A8C0-1AE1-44BF-A835-B1AD955B3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1~5인, 장비와 방침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B22F62-BB36-4C06-977B-611A0CDE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62100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EDA227-EF2E-4D3E-84F5-5FA249E7A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335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152CF1-00A1-4959-9D7F-DF5A34B3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7335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자동 탐사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520C40-070A-4DD8-83B3-D311FE0D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짧은 씬과 사건 누적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7F348C-358B-42C8-83C8-FD8BC525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4725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818C9F-B6CD-4AD4-86E5-FCFFC44C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C85266-0BE1-4B22-897F-7C337FCF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861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깊이 결정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000571-FD3A-46BD-B4EF-924739C9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전진·철수·구조·포기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39E242-18BB-4DB4-8876-126CC89A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14725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80B6D4-BAB9-4ADA-BDCB-9614B878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861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68F29-51D9-4A86-92F3-4A53B367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861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귀환 정산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376584-18DD-488D-9D66-7B8C86E9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00525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회수품과 손실 확정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7543DF-BD02-41B1-8DCF-99D69C7F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14725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08A7B4-D8C6-4A9A-BF99-D9AFD20B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861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CB25C4-0AFC-4AF5-9135-074B3086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861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다음 준비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88BD8A-9EB9-408C-97B0-D92DD76D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00525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판매·연구·회복·관계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457CD4-77E1-4659-A4DC-5836493E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7375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1">
                <a:solidFill>
                  <a:srgbClr val="38D6C4"/>
                </a:solidFill>
              </a:defRPr>
            </a:defPPr>
            <a:lvl1pPr algn="ctr">
              <a:defRPr sz="1425" b="1">
                <a:solidFill>
                  <a:srgbClr val="38D6C4"/>
                </a:solidFill>
              </a:defRPr>
            </a:lvl1pPr>
            <a:lvl2pPr algn="ctr">
              <a:defRPr sz="1425" b="1">
                <a:solidFill>
                  <a:srgbClr val="38D6C4"/>
                </a:solidFill>
              </a:defRPr>
            </a:lvl2pPr>
            <a:lvl3pPr algn="ctr">
              <a:defRPr sz="1425" b="1">
                <a:solidFill>
                  <a:srgbClr val="38D6C4"/>
                </a:solidFill>
              </a:defRPr>
            </a:lvl3pPr>
            <a:lvl4pPr algn="ctr">
              <a:defRPr sz="1425" b="1">
                <a:solidFill>
                  <a:srgbClr val="38D6C4"/>
                </a:solidFill>
              </a:defRPr>
            </a:lvl4pPr>
            <a:lvl5pPr algn="ctr">
              <a:defRPr sz="1425" b="1">
                <a:solidFill>
                  <a:srgbClr val="38D6C4"/>
                </a:solidFill>
              </a:defRPr>
            </a:lvl5pPr>
            <a:lvl6pPr algn="ctr">
              <a:defRPr sz="1425" b="1">
                <a:solidFill>
                  <a:srgbClr val="38D6C4"/>
                </a:solidFill>
              </a:defRPr>
            </a:lvl6pPr>
            <a:lvl7pPr algn="ctr">
              <a:defRPr sz="1425" b="1">
                <a:solidFill>
                  <a:srgbClr val="38D6C4"/>
                </a:solidFill>
              </a:defRPr>
            </a:lvl7pPr>
            <a:lvl8pPr algn="ctr">
              <a:defRPr sz="1425" b="1">
                <a:solidFill>
                  <a:srgbClr val="38D6C4"/>
                </a:solidFill>
              </a:defRPr>
            </a:lvl8pPr>
            <a:lvl9pPr algn="ctr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다음 탐사의 욕망은 더 좋은 전리품, 더 깊은 공간, 이어지는 관계사에서 나온다.</a:t>
            </a:r>
          </a:p>
        </p:txBody>
      </p:sp>
    </p:spTree>
    <p:extLst>
      <p:ext uri="{BB962C8B-B14F-4D97-AF65-F5344CB8AC3E}">
        <p14:creationId xmlns:p14="http://schemas.microsoft.com/office/powerpoint/2010/main" val="9875133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567BF0-96A0-46A3-9EEB-EFB8BAF9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37D703-03F3-45F9-A2F0-60758467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EXPEDITION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1A8CB9-1142-46B3-A7C9-B661A834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탐사 깊이와 인원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48516F-514D-4BE1-85E7-60CD08B3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B65D0B-7A25-46F1-B212-B6CBF26A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959576-3D78-4CF1-A6D1-79ED3F6B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1인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3DACDD-0F52-4C3A-B56F-5DECEAEC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4668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은밀함과 보상 독점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DCE034-F0AE-4E34-A9D1-61703ABB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66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구조 불가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E33C7D-DCD6-424C-A9DE-BF6575D9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F65CEF-5AAE-4E46-BC48-6ADF8628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3360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2인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94CEBD-1FCF-4785-9D04-BF27ADED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13360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선명한 관계와 상호 구조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CDE0A1-4CBD-498C-AC68-0E58C215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3360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한 명의 실패가 치명적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80DC17-A7AD-4C1E-974E-5CFCDFFE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A9A9A5-0180-40EA-BAA7-025A4528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3인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ECE910-146C-4056-BAD3-364907EA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003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안정적인 역할 조합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A15FE8-7E07-43A8-B8AF-060EA0AA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8003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전문 능력 공백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5736C6-9E8B-4458-804F-4697B083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147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7203B8-0C76-4DD8-8BB1-D08F4548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6710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4인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E6A6CD-1B5A-4D3E-87B1-E481F2C9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46710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폭넓은 위험 대응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DFE90E-0FC6-4656-9233-FB8882099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6710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물자 소비와 갈등 증가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7998B2-F9E7-4F13-AEC2-A4BBE121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814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C2C307-82AC-4250-A243-F6C80556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5인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83AE8F-3ACE-4822-BC23-BCF6AEB6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338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복합 퍼즐과 대형 채취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BA7B07-45FE-4649-89A6-4D4F4608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33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소음·오염·분배 위험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32CC13-0579-42FE-96CB-6E90F49D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64379D-BD95-44F4-9F5A-DCF94C08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0"/>
            <a:ext cx="1104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491085-4F54-4E13-9EA7-1C2B78D4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6732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2F5F4"/>
                </a:solidFill>
              </a:defRPr>
            </a:defPPr>
            <a:lvl1pPr algn="l">
              <a:defRPr sz="1275" b="1">
                <a:solidFill>
                  <a:srgbClr val="F2F5F4"/>
                </a:solidFill>
              </a:defRPr>
            </a:lvl1pPr>
            <a:lvl2pPr algn="l">
              <a:defRPr sz="1275" b="1">
                <a:solidFill>
                  <a:srgbClr val="F2F5F4"/>
                </a:solidFill>
              </a:defRPr>
            </a:lvl2pPr>
            <a:lvl3pPr algn="l">
              <a:defRPr sz="1275" b="1">
                <a:solidFill>
                  <a:srgbClr val="F2F5F4"/>
                </a:solidFill>
              </a:defRPr>
            </a:lvl3pPr>
            <a:lvl4pPr algn="l">
              <a:defRPr sz="1275" b="1">
                <a:solidFill>
                  <a:srgbClr val="F2F5F4"/>
                </a:solidFill>
              </a:defRPr>
            </a:lvl4pPr>
            <a:lvl5pPr algn="l">
              <a:defRPr sz="1275" b="1">
                <a:solidFill>
                  <a:srgbClr val="F2F5F4"/>
                </a:solidFill>
              </a:defRPr>
            </a:lvl5pPr>
            <a:lvl6pPr algn="l">
              <a:defRPr sz="1275" b="1">
                <a:solidFill>
                  <a:srgbClr val="F2F5F4"/>
                </a:solidFill>
              </a:defRPr>
            </a:lvl6pPr>
            <a:lvl7pPr algn="l">
              <a:defRPr sz="1275" b="1">
                <a:solidFill>
                  <a:srgbClr val="F2F5F4"/>
                </a:solidFill>
              </a:defRPr>
            </a:lvl7pPr>
            <a:lvl8pPr algn="l">
              <a:defRPr sz="1275" b="1">
                <a:solidFill>
                  <a:srgbClr val="F2F5F4"/>
                </a:solidFill>
              </a:defRPr>
            </a:lvl8pPr>
            <a:lvl9pPr algn="l">
              <a:defRPr sz="12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2F5F4"/>
                </a:solidFill>
              </a:defRPr>
            </a:pPr>
            <a:r>
              <a:rPr sz="1275" b="1">
                <a:solidFill>
                  <a:srgbClr val="F2F5F4"/>
                </a:solidFill>
              </a:rPr>
              <a:t>얕은 단계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C39C1B-948B-4382-8EE2-74ACA7A0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1497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2AFAC"/>
                </a:solidFill>
              </a:defRPr>
            </a:defPPr>
            <a:lvl1pPr algn="l">
              <a:defRPr sz="1200" b="0">
                <a:solidFill>
                  <a:srgbClr val="A2AFAC"/>
                </a:solidFill>
              </a:defRPr>
            </a:lvl1pPr>
            <a:lvl2pPr algn="l">
              <a:defRPr sz="1200" b="0">
                <a:solidFill>
                  <a:srgbClr val="A2AFAC"/>
                </a:solidFill>
              </a:defRPr>
            </a:lvl2pPr>
            <a:lvl3pPr algn="l">
              <a:defRPr sz="1200" b="0">
                <a:solidFill>
                  <a:srgbClr val="A2AFAC"/>
                </a:solidFill>
              </a:defRPr>
            </a:lvl3pPr>
            <a:lvl4pPr algn="l">
              <a:defRPr sz="1200" b="0">
                <a:solidFill>
                  <a:srgbClr val="A2AFAC"/>
                </a:solidFill>
              </a:defRPr>
            </a:lvl4pPr>
            <a:lvl5pPr algn="l">
              <a:defRPr sz="1200" b="0">
                <a:solidFill>
                  <a:srgbClr val="A2AFAC"/>
                </a:solidFill>
              </a:defRPr>
            </a:lvl5pPr>
            <a:lvl6pPr algn="l">
              <a:defRPr sz="1200" b="0">
                <a:solidFill>
                  <a:srgbClr val="A2AFAC"/>
                </a:solidFill>
              </a:defRPr>
            </a:lvl6pPr>
            <a:lvl7pPr algn="l">
              <a:defRPr sz="1200" b="0">
                <a:solidFill>
                  <a:srgbClr val="A2AFAC"/>
                </a:solidFill>
              </a:defRPr>
            </a:lvl7pPr>
            <a:lvl8pPr algn="l">
              <a:defRPr sz="1200" b="0">
                <a:solidFill>
                  <a:srgbClr val="A2AFAC"/>
                </a:solidFill>
              </a:defRPr>
            </a:lvl8pPr>
            <a:lvl9pPr algn="l">
              <a:defRPr sz="120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2AFAC"/>
                </a:solidFill>
              </a:defRPr>
            </a:pPr>
            <a:r>
              <a:rPr sz="1200" b="0">
                <a:solidFill>
                  <a:srgbClr val="A2AFAC"/>
                </a:solidFill>
              </a:rPr>
              <a:t>안정적 에너지와 기본 물자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C32912-C782-4778-9C4C-44BFEF3D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6732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E9C46A"/>
                </a:solidFill>
              </a:defRPr>
            </a:defPPr>
            <a:lvl1pPr algn="l">
              <a:defRPr sz="1275" b="1">
                <a:solidFill>
                  <a:srgbClr val="E9C46A"/>
                </a:solidFill>
              </a:defRPr>
            </a:lvl1pPr>
            <a:lvl2pPr algn="l">
              <a:defRPr sz="1275" b="1">
                <a:solidFill>
                  <a:srgbClr val="E9C46A"/>
                </a:solidFill>
              </a:defRPr>
            </a:lvl2pPr>
            <a:lvl3pPr algn="l">
              <a:defRPr sz="1275" b="1">
                <a:solidFill>
                  <a:srgbClr val="E9C46A"/>
                </a:solidFill>
              </a:defRPr>
            </a:lvl3pPr>
            <a:lvl4pPr algn="l">
              <a:defRPr sz="1275" b="1">
                <a:solidFill>
                  <a:srgbClr val="E9C46A"/>
                </a:solidFill>
              </a:defRPr>
            </a:lvl4pPr>
            <a:lvl5pPr algn="l">
              <a:defRPr sz="1275" b="1">
                <a:solidFill>
                  <a:srgbClr val="E9C46A"/>
                </a:solidFill>
              </a:defRPr>
            </a:lvl5pPr>
            <a:lvl6pPr algn="l">
              <a:defRPr sz="1275" b="1">
                <a:solidFill>
                  <a:srgbClr val="E9C46A"/>
                </a:solidFill>
              </a:defRPr>
            </a:lvl6pPr>
            <a:lvl7pPr algn="l">
              <a:defRPr sz="1275" b="1">
                <a:solidFill>
                  <a:srgbClr val="E9C46A"/>
                </a:solidFill>
              </a:defRPr>
            </a:lvl7pPr>
            <a:lvl8pPr algn="l">
              <a:defRPr sz="1275" b="1">
                <a:solidFill>
                  <a:srgbClr val="E9C46A"/>
                </a:solidFill>
              </a:defRPr>
            </a:lvl8pPr>
            <a:lvl9pPr algn="l">
              <a:defRPr sz="1275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E9C46A"/>
                </a:solidFill>
              </a:defRPr>
            </a:pPr>
            <a:r>
              <a:rPr sz="1275" b="1">
                <a:solidFill>
                  <a:srgbClr val="E9C46A"/>
                </a:solidFill>
              </a:rPr>
              <a:t>깊은 단계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28415F-C98C-4657-BD1B-F0B805B7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1497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2AFAC"/>
                </a:solidFill>
              </a:defRPr>
            </a:defPPr>
            <a:lvl1pPr algn="l">
              <a:defRPr sz="1200" b="0">
                <a:solidFill>
                  <a:srgbClr val="A2AFAC"/>
                </a:solidFill>
              </a:defRPr>
            </a:lvl1pPr>
            <a:lvl2pPr algn="l">
              <a:defRPr sz="1200" b="0">
                <a:solidFill>
                  <a:srgbClr val="A2AFAC"/>
                </a:solidFill>
              </a:defRPr>
            </a:lvl2pPr>
            <a:lvl3pPr algn="l">
              <a:defRPr sz="1200" b="0">
                <a:solidFill>
                  <a:srgbClr val="A2AFAC"/>
                </a:solidFill>
              </a:defRPr>
            </a:lvl3pPr>
            <a:lvl4pPr algn="l">
              <a:defRPr sz="1200" b="0">
                <a:solidFill>
                  <a:srgbClr val="A2AFAC"/>
                </a:solidFill>
              </a:defRPr>
            </a:lvl4pPr>
            <a:lvl5pPr algn="l">
              <a:defRPr sz="1200" b="0">
                <a:solidFill>
                  <a:srgbClr val="A2AFAC"/>
                </a:solidFill>
              </a:defRPr>
            </a:lvl5pPr>
            <a:lvl6pPr algn="l">
              <a:defRPr sz="1200" b="0">
                <a:solidFill>
                  <a:srgbClr val="A2AFAC"/>
                </a:solidFill>
              </a:defRPr>
            </a:lvl6pPr>
            <a:lvl7pPr algn="l">
              <a:defRPr sz="1200" b="0">
                <a:solidFill>
                  <a:srgbClr val="A2AFAC"/>
                </a:solidFill>
              </a:defRPr>
            </a:lvl7pPr>
            <a:lvl8pPr algn="l">
              <a:defRPr sz="1200" b="0">
                <a:solidFill>
                  <a:srgbClr val="A2AFAC"/>
                </a:solidFill>
              </a:defRPr>
            </a:lvl8pPr>
            <a:lvl9pPr algn="l">
              <a:defRPr sz="120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2AFAC"/>
                </a:solidFill>
              </a:defRPr>
            </a:pPr>
            <a:r>
              <a:rPr sz="1200" b="0">
                <a:solidFill>
                  <a:srgbClr val="A2AFAC"/>
                </a:solidFill>
              </a:rPr>
              <a:t>희귀 물품·핵심 정보·서사 사건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CC2C8F-0E62-4C8F-89C5-A4CB5282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26732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E86D65"/>
                </a:solidFill>
              </a:defRPr>
            </a:defPPr>
            <a:lvl1pPr algn="l">
              <a:defRPr sz="1275" b="1">
                <a:solidFill>
                  <a:srgbClr val="E86D65"/>
                </a:solidFill>
              </a:defRPr>
            </a:lvl1pPr>
            <a:lvl2pPr algn="l">
              <a:defRPr sz="1275" b="1">
                <a:solidFill>
                  <a:srgbClr val="E86D65"/>
                </a:solidFill>
              </a:defRPr>
            </a:lvl2pPr>
            <a:lvl3pPr algn="l">
              <a:defRPr sz="1275" b="1">
                <a:solidFill>
                  <a:srgbClr val="E86D65"/>
                </a:solidFill>
              </a:defRPr>
            </a:lvl3pPr>
            <a:lvl4pPr algn="l">
              <a:defRPr sz="1275" b="1">
                <a:solidFill>
                  <a:srgbClr val="E86D65"/>
                </a:solidFill>
              </a:defRPr>
            </a:lvl4pPr>
            <a:lvl5pPr algn="l">
              <a:defRPr sz="1275" b="1">
                <a:solidFill>
                  <a:srgbClr val="E86D65"/>
                </a:solidFill>
              </a:defRPr>
            </a:lvl5pPr>
            <a:lvl6pPr algn="l">
              <a:defRPr sz="1275" b="1">
                <a:solidFill>
                  <a:srgbClr val="E86D65"/>
                </a:solidFill>
              </a:defRPr>
            </a:lvl6pPr>
            <a:lvl7pPr algn="l">
              <a:defRPr sz="1275" b="1">
                <a:solidFill>
                  <a:srgbClr val="E86D65"/>
                </a:solidFill>
              </a:defRPr>
            </a:lvl7pPr>
            <a:lvl8pPr algn="l">
              <a:defRPr sz="1275" b="1">
                <a:solidFill>
                  <a:srgbClr val="E86D65"/>
                </a:solidFill>
              </a:defRPr>
            </a:lvl8pPr>
            <a:lvl9pPr algn="l">
              <a:defRPr sz="1275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E86D65"/>
                </a:solidFill>
              </a:defRPr>
            </a:pPr>
            <a:r>
              <a:rPr sz="1275" b="1">
                <a:solidFill>
                  <a:srgbClr val="E86D65"/>
                </a:solidFill>
              </a:rPr>
              <a:t>귀환선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CA4878-EC30-4499-9852-273BC824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51497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2AFAC"/>
                </a:solidFill>
              </a:defRPr>
            </a:defPPr>
            <a:lvl1pPr algn="l">
              <a:defRPr sz="1200" b="0">
                <a:solidFill>
                  <a:srgbClr val="A2AFAC"/>
                </a:solidFill>
              </a:defRPr>
            </a:lvl1pPr>
            <a:lvl2pPr algn="l">
              <a:defRPr sz="1200" b="0">
                <a:solidFill>
                  <a:srgbClr val="A2AFAC"/>
                </a:solidFill>
              </a:defRPr>
            </a:lvl2pPr>
            <a:lvl3pPr algn="l">
              <a:defRPr sz="1200" b="0">
                <a:solidFill>
                  <a:srgbClr val="A2AFAC"/>
                </a:solidFill>
              </a:defRPr>
            </a:lvl3pPr>
            <a:lvl4pPr algn="l">
              <a:defRPr sz="1200" b="0">
                <a:solidFill>
                  <a:srgbClr val="A2AFAC"/>
                </a:solidFill>
              </a:defRPr>
            </a:lvl4pPr>
            <a:lvl5pPr algn="l">
              <a:defRPr sz="1200" b="0">
                <a:solidFill>
                  <a:srgbClr val="A2AFAC"/>
                </a:solidFill>
              </a:defRPr>
            </a:lvl5pPr>
            <a:lvl6pPr algn="l">
              <a:defRPr sz="1200" b="0">
                <a:solidFill>
                  <a:srgbClr val="A2AFAC"/>
                </a:solidFill>
              </a:defRPr>
            </a:lvl6pPr>
            <a:lvl7pPr algn="l">
              <a:defRPr sz="1200" b="0">
                <a:solidFill>
                  <a:srgbClr val="A2AFAC"/>
                </a:solidFill>
              </a:defRPr>
            </a:lvl7pPr>
            <a:lvl8pPr algn="l">
              <a:defRPr sz="1200" b="0">
                <a:solidFill>
                  <a:srgbClr val="A2AFAC"/>
                </a:solidFill>
              </a:defRPr>
            </a:lvl8pPr>
            <a:lvl9pPr algn="l">
              <a:defRPr sz="120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2AFAC"/>
                </a:solidFill>
              </a:defRPr>
            </a:pPr>
            <a:r>
              <a:rPr sz="1200" b="0">
                <a:solidFill>
                  <a:srgbClr val="A2AFAC"/>
                </a:solidFill>
              </a:rPr>
              <a:t>전진할수록 멀어지고 손실이 커진다</a:t>
            </a:r>
          </a:p>
        </p:txBody>
      </p:sp>
    </p:spTree>
    <p:extLst>
      <p:ext uri="{BB962C8B-B14F-4D97-AF65-F5344CB8AC3E}">
        <p14:creationId xmlns:p14="http://schemas.microsoft.com/office/powerpoint/2010/main" val="18606342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A66538-1E2B-4EDF-B74E-00539B00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623923-63A6-49D4-A9AD-16F58DA3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CHARACTER STATS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8E02EB-E138-4B04-ABD8-81ADF8A6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10개 기초 능력치와 복합 판정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87514-4327-4CD7-AC49-F9AF6EC8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D985EA-330D-467A-BA4A-4843ED3F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83AEE0-BC21-4CFD-AFFD-2CE7DF2E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8D6C4"/>
                </a:solidFill>
              </a:defRPr>
            </a:defPPr>
            <a:lvl1pPr algn="l">
              <a:defRPr sz="1650" b="1">
                <a:solidFill>
                  <a:srgbClr val="38D6C4"/>
                </a:solidFill>
              </a:defRPr>
            </a:lvl1pPr>
            <a:lvl2pPr algn="l">
              <a:defRPr sz="1650" b="1">
                <a:solidFill>
                  <a:srgbClr val="38D6C4"/>
                </a:solidFill>
              </a:defRPr>
            </a:lvl2pPr>
            <a:lvl3pPr algn="l">
              <a:defRPr sz="1650" b="1">
                <a:solidFill>
                  <a:srgbClr val="38D6C4"/>
                </a:solidFill>
              </a:defRPr>
            </a:lvl3pPr>
            <a:lvl4pPr algn="l">
              <a:defRPr sz="1650" b="1">
                <a:solidFill>
                  <a:srgbClr val="38D6C4"/>
                </a:solidFill>
              </a:defRPr>
            </a:lvl4pPr>
            <a:lvl5pPr algn="l">
              <a:defRPr sz="1650" b="1">
                <a:solidFill>
                  <a:srgbClr val="38D6C4"/>
                </a:solidFill>
              </a:defRPr>
            </a:lvl5pPr>
            <a:lvl6pPr algn="l">
              <a:defRPr sz="1650" b="1">
                <a:solidFill>
                  <a:srgbClr val="38D6C4"/>
                </a:solidFill>
              </a:defRPr>
            </a:lvl6pPr>
            <a:lvl7pPr algn="l">
              <a:defRPr sz="1650" b="1">
                <a:solidFill>
                  <a:srgbClr val="38D6C4"/>
                </a:solidFill>
              </a:defRPr>
            </a:lvl7pPr>
            <a:lvl8pPr algn="l">
              <a:defRPr sz="1650" b="1">
                <a:solidFill>
                  <a:srgbClr val="38D6C4"/>
                </a:solidFill>
              </a:defRPr>
            </a:lvl8pPr>
            <a:lvl9pPr algn="l">
              <a:defRPr sz="16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38D6C4"/>
                </a:solidFill>
              </a:defRPr>
            </a:pPr>
            <a:r>
              <a:rPr sz="1650" b="1">
                <a:solidFill>
                  <a:srgbClr val="38D6C4"/>
                </a:solidFill>
              </a:rPr>
              <a:t>육체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A48073-4FEA-4851-B83F-E95B73D2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근력  민첩성  지구력  균형감각  유연성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B44A1E-C6A9-48B5-BC0D-7F53B3C2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668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E9C46A"/>
                </a:solidFill>
              </a:defRPr>
            </a:defPPr>
            <a:lvl1pPr algn="l">
              <a:defRPr sz="1650" b="1">
                <a:solidFill>
                  <a:srgbClr val="E9C46A"/>
                </a:solidFill>
              </a:defRPr>
            </a:lvl1pPr>
            <a:lvl2pPr algn="l">
              <a:defRPr sz="1650" b="1">
                <a:solidFill>
                  <a:srgbClr val="E9C46A"/>
                </a:solidFill>
              </a:defRPr>
            </a:lvl2pPr>
            <a:lvl3pPr algn="l">
              <a:defRPr sz="1650" b="1">
                <a:solidFill>
                  <a:srgbClr val="E9C46A"/>
                </a:solidFill>
              </a:defRPr>
            </a:lvl3pPr>
            <a:lvl4pPr algn="l">
              <a:defRPr sz="1650" b="1">
                <a:solidFill>
                  <a:srgbClr val="E9C46A"/>
                </a:solidFill>
              </a:defRPr>
            </a:lvl4pPr>
            <a:lvl5pPr algn="l">
              <a:defRPr sz="1650" b="1">
                <a:solidFill>
                  <a:srgbClr val="E9C46A"/>
                </a:solidFill>
              </a:defRPr>
            </a:lvl5pPr>
            <a:lvl6pPr algn="l">
              <a:defRPr sz="1650" b="1">
                <a:solidFill>
                  <a:srgbClr val="E9C46A"/>
                </a:solidFill>
              </a:defRPr>
            </a:lvl6pPr>
            <a:lvl7pPr algn="l">
              <a:defRPr sz="1650" b="1">
                <a:solidFill>
                  <a:srgbClr val="E9C46A"/>
                </a:solidFill>
              </a:defRPr>
            </a:lvl7pPr>
            <a:lvl8pPr algn="l">
              <a:defRPr sz="1650" b="1">
                <a:solidFill>
                  <a:srgbClr val="E9C46A"/>
                </a:solidFill>
              </a:defRPr>
            </a:lvl8pPr>
            <a:lvl9pPr algn="l">
              <a:defRPr sz="16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E9C46A"/>
                </a:solidFill>
              </a:defRPr>
            </a:pPr>
            <a:r>
              <a:rPr sz="1650" b="1">
                <a:solidFill>
                  <a:srgbClr val="E9C46A"/>
                </a:solidFill>
              </a:rPr>
              <a:t>정신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AC7126-C2DE-469C-871C-ECCBBF88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정신력  지능  용기  교활함  행운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D93EDB-1CDB-4BBA-AED5-8E4D0719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A9C3E-478A-45DD-9C82-58D03BB6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무너지는 다리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863412-B24B-423E-995A-72B7EF36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4800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민첩성 + 균형감각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11409E-57D5-44AA-9616-5956486D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1D8298-DB2F-4355-92D3-49135F7C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부상자 운반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443858-3587-46E7-9DF7-606234B8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71875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근력 + 지구력 + 용기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45F68B-124B-4893-9CF2-4210AFA3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9097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C305C6-BDB9-4B14-ACEA-682B7F92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공간 규칙 추론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885BB7-86D9-4360-8651-2F98756F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지능 + 정신력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6843D0-6488-4C66-95D0-5461DE44E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14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AAF14F-FDF5-423F-A3F9-2B0E7589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이상 존재 기만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9A211D-504B-4B1C-96AC-277F3AB6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619625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교활함 + 용기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CD59E1-51E5-4EAB-8B58-E336A362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3872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960019-CC40-45A5-9A08-AFB1037B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좁은 통로 탈출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E59EBE-663D-41A6-B2C7-4E2F291D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4350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유연성 + 정신력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6D1F4B-0BE2-48DF-8EEE-E6DB84F2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626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0ACDB0-2634-491D-B7E9-6FCC2AB3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38D6C4"/>
                </a:solidFill>
              </a:defRPr>
            </a:defPPr>
            <a:lvl1pPr algn="ctr">
              <a:defRPr sz="1500" b="1">
                <a:solidFill>
                  <a:srgbClr val="38D6C4"/>
                </a:solidFill>
              </a:defRPr>
            </a:lvl1pPr>
            <a:lvl2pPr algn="ctr">
              <a:defRPr sz="1500" b="1">
                <a:solidFill>
                  <a:srgbClr val="38D6C4"/>
                </a:solidFill>
              </a:defRPr>
            </a:lvl2pPr>
            <a:lvl3pPr algn="ctr">
              <a:defRPr sz="1500" b="1">
                <a:solidFill>
                  <a:srgbClr val="38D6C4"/>
                </a:solidFill>
              </a:defRPr>
            </a:lvl3pPr>
            <a:lvl4pPr algn="ctr">
              <a:defRPr sz="1500" b="1">
                <a:solidFill>
                  <a:srgbClr val="38D6C4"/>
                </a:solidFill>
              </a:defRPr>
            </a:lvl4pPr>
            <a:lvl5pPr algn="ctr">
              <a:defRPr sz="1500" b="1">
                <a:solidFill>
                  <a:srgbClr val="38D6C4"/>
                </a:solidFill>
              </a:defRPr>
            </a:lvl5pPr>
            <a:lvl6pPr algn="ctr">
              <a:defRPr sz="1500" b="1">
                <a:solidFill>
                  <a:srgbClr val="38D6C4"/>
                </a:solidFill>
              </a:defRPr>
            </a:lvl6pPr>
            <a:lvl7pPr algn="ctr">
              <a:defRPr sz="1500" b="1">
                <a:solidFill>
                  <a:srgbClr val="38D6C4"/>
                </a:solidFill>
              </a:defRPr>
            </a:lvl7pPr>
            <a:lvl8pPr algn="ctr">
              <a:defRPr sz="1500" b="1">
                <a:solidFill>
                  <a:srgbClr val="38D6C4"/>
                </a:solidFill>
              </a:defRPr>
            </a:lvl8pPr>
            <a:lvl9pPr algn="ctr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판정 = 관련 능력치 2~3개 + 장비 + 정보 + 현재 상태</a:t>
            </a:r>
          </a:p>
        </p:txBody>
      </p:sp>
    </p:spTree>
    <p:extLst>
      <p:ext uri="{BB962C8B-B14F-4D97-AF65-F5344CB8AC3E}">
        <p14:creationId xmlns:p14="http://schemas.microsoft.com/office/powerpoint/2010/main" val="928610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DF0B8D-7805-4438-998F-7B014499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A7AD64-15A1-467F-8D88-C1E19298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PERSONALITY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68DDC4-B508-43A8-B939-CA0FD820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성격 시스템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A85491-C2EF-4931-A901-BC6D1FCE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8FA830-E233-42E4-863D-AB4EF6A1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8543C-E9F3-4A7F-970C-29690CEE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2F5F4"/>
                </a:solidFill>
              </a:defRPr>
            </a:defPPr>
            <a:lvl1pPr algn="l">
              <a:defRPr sz="2325" b="1">
                <a:solidFill>
                  <a:srgbClr val="F2F5F4"/>
                </a:solidFill>
              </a:defRPr>
            </a:lvl1pPr>
            <a:lvl2pPr algn="l">
              <a:defRPr sz="2325" b="1">
                <a:solidFill>
                  <a:srgbClr val="F2F5F4"/>
                </a:solidFill>
              </a:defRPr>
            </a:lvl2pPr>
            <a:lvl3pPr algn="l">
              <a:defRPr sz="2325" b="1">
                <a:solidFill>
                  <a:srgbClr val="F2F5F4"/>
                </a:solidFill>
              </a:defRPr>
            </a:lvl3pPr>
            <a:lvl4pPr algn="l">
              <a:defRPr sz="2325" b="1">
                <a:solidFill>
                  <a:srgbClr val="F2F5F4"/>
                </a:solidFill>
              </a:defRPr>
            </a:lvl4pPr>
            <a:lvl5pPr algn="l">
              <a:defRPr sz="2325" b="1">
                <a:solidFill>
                  <a:srgbClr val="F2F5F4"/>
                </a:solidFill>
              </a:defRPr>
            </a:lvl5pPr>
            <a:lvl6pPr algn="l">
              <a:defRPr sz="2325" b="1">
                <a:solidFill>
                  <a:srgbClr val="F2F5F4"/>
                </a:solidFill>
              </a:defRPr>
            </a:lvl6pPr>
            <a:lvl7pPr algn="l">
              <a:defRPr sz="2325" b="1">
                <a:solidFill>
                  <a:srgbClr val="F2F5F4"/>
                </a:solidFill>
              </a:defRPr>
            </a:lvl7pPr>
            <a:lvl8pPr algn="l">
              <a:defRPr sz="2325" b="1">
                <a:solidFill>
                  <a:srgbClr val="F2F5F4"/>
                </a:solidFill>
              </a:defRPr>
            </a:lvl8pPr>
            <a:lvl9pPr algn="l">
              <a:defRPr sz="23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2F5F4"/>
                </a:solidFill>
              </a:defRPr>
            </a:pPr>
            <a:r>
              <a:rPr sz="2325" b="1">
                <a:solidFill>
                  <a:srgbClr val="F2F5F4"/>
                </a:solidFill>
              </a:rPr>
              <a:t>캐릭터 생성 시 36개 중 5개 선택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8187D7-2F17-46F8-8B1E-8C0C6CC3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714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각 키워드는 같은 총량의 능력치 보정을 제공하는 1차안이다.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2038C8-699C-450E-88E6-042E09C2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38D6C4"/>
                </a:solidFill>
              </a:defRPr>
            </a:defPPr>
            <a:lvl1pPr algn="l">
              <a:defRPr sz="1425" b="1">
                <a:solidFill>
                  <a:srgbClr val="38D6C4"/>
                </a:solidFill>
              </a:defRPr>
            </a:lvl1pPr>
            <a:lvl2pPr algn="l">
              <a:defRPr sz="1425" b="1">
                <a:solidFill>
                  <a:srgbClr val="38D6C4"/>
                </a:solidFill>
              </a:defRPr>
            </a:lvl2pPr>
            <a:lvl3pPr algn="l">
              <a:defRPr sz="1425" b="1">
                <a:solidFill>
                  <a:srgbClr val="38D6C4"/>
                </a:solidFill>
              </a:defRPr>
            </a:lvl3pPr>
            <a:lvl4pPr algn="l">
              <a:defRPr sz="1425" b="1">
                <a:solidFill>
                  <a:srgbClr val="38D6C4"/>
                </a:solidFill>
              </a:defRPr>
            </a:lvl4pPr>
            <a:lvl5pPr algn="l">
              <a:defRPr sz="1425" b="1">
                <a:solidFill>
                  <a:srgbClr val="38D6C4"/>
                </a:solidFill>
              </a:defRPr>
            </a:lvl5pPr>
            <a:lvl6pPr algn="l">
              <a:defRPr sz="1425" b="1">
                <a:solidFill>
                  <a:srgbClr val="38D6C4"/>
                </a:solidFill>
              </a:defRPr>
            </a:lvl6pPr>
            <a:lvl7pPr algn="l">
              <a:defRPr sz="1425" b="1">
                <a:solidFill>
                  <a:srgbClr val="38D6C4"/>
                </a:solidFill>
              </a:defRPr>
            </a:lvl7pPr>
            <a:lvl8pPr algn="l">
              <a:defRPr sz="1425" b="1">
                <a:solidFill>
                  <a:srgbClr val="38D6C4"/>
                </a:solidFill>
              </a:defRPr>
            </a:lvl8pPr>
            <a:lvl9pPr algn="l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능력치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998DD1-3941-496C-9503-CDC5DDC3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241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2F5F4"/>
                </a:solidFill>
              </a:defRPr>
            </a:defPPr>
            <a:lvl1pPr algn="l">
              <a:defRPr sz="1500" b="0">
                <a:solidFill>
                  <a:srgbClr val="F2F5F4"/>
                </a:solidFill>
              </a:defRPr>
            </a:lvl1pPr>
            <a:lvl2pPr algn="l">
              <a:defRPr sz="1500" b="0">
                <a:solidFill>
                  <a:srgbClr val="F2F5F4"/>
                </a:solidFill>
              </a:defRPr>
            </a:lvl2pPr>
            <a:lvl3pPr algn="l">
              <a:defRPr sz="1500" b="0">
                <a:solidFill>
                  <a:srgbClr val="F2F5F4"/>
                </a:solidFill>
              </a:defRPr>
            </a:lvl3pPr>
            <a:lvl4pPr algn="l">
              <a:defRPr sz="1500" b="0">
                <a:solidFill>
                  <a:srgbClr val="F2F5F4"/>
                </a:solidFill>
              </a:defRPr>
            </a:lvl4pPr>
            <a:lvl5pPr algn="l">
              <a:defRPr sz="1500" b="0">
                <a:solidFill>
                  <a:srgbClr val="F2F5F4"/>
                </a:solidFill>
              </a:defRPr>
            </a:lvl5pPr>
            <a:lvl6pPr algn="l">
              <a:defRPr sz="1500" b="0">
                <a:solidFill>
                  <a:srgbClr val="F2F5F4"/>
                </a:solidFill>
              </a:defRPr>
            </a:lvl6pPr>
            <a:lvl7pPr algn="l">
              <a:defRPr sz="1500" b="0">
                <a:solidFill>
                  <a:srgbClr val="F2F5F4"/>
                </a:solidFill>
              </a:defRPr>
            </a:lvl7pPr>
            <a:lvl8pPr algn="l">
              <a:defRPr sz="1500" b="0">
                <a:solidFill>
                  <a:srgbClr val="F2F5F4"/>
                </a:solidFill>
              </a:defRPr>
            </a:lvl8pPr>
            <a:lvl9pPr algn="l">
              <a:defRPr sz="150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F2F5F4"/>
                </a:solidFill>
              </a:defRPr>
            </a:pPr>
            <a:r>
              <a:rPr sz="1500" b="0">
                <a:solidFill>
                  <a:srgbClr val="F2F5F4"/>
                </a:solidFill>
              </a:rPr>
              <a:t>관련 기초 능력치에 +1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FE3C2F-E352-4860-BE87-C143D4FE0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D56A8A-12F6-4600-88A8-14C35E38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909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38D6C4"/>
                </a:solidFill>
              </a:defRPr>
            </a:defPPr>
            <a:lvl1pPr algn="l">
              <a:defRPr sz="1425" b="1">
                <a:solidFill>
                  <a:srgbClr val="38D6C4"/>
                </a:solidFill>
              </a:defRPr>
            </a:lvl1pPr>
            <a:lvl2pPr algn="l">
              <a:defRPr sz="1425" b="1">
                <a:solidFill>
                  <a:srgbClr val="38D6C4"/>
                </a:solidFill>
              </a:defRPr>
            </a:lvl2pPr>
            <a:lvl3pPr algn="l">
              <a:defRPr sz="1425" b="1">
                <a:solidFill>
                  <a:srgbClr val="38D6C4"/>
                </a:solidFill>
              </a:defRPr>
            </a:lvl3pPr>
            <a:lvl4pPr algn="l">
              <a:defRPr sz="1425" b="1">
                <a:solidFill>
                  <a:srgbClr val="38D6C4"/>
                </a:solidFill>
              </a:defRPr>
            </a:lvl4pPr>
            <a:lvl5pPr algn="l">
              <a:defRPr sz="1425" b="1">
                <a:solidFill>
                  <a:srgbClr val="38D6C4"/>
                </a:solidFill>
              </a:defRPr>
            </a:lvl5pPr>
            <a:lvl6pPr algn="l">
              <a:defRPr sz="1425" b="1">
                <a:solidFill>
                  <a:srgbClr val="38D6C4"/>
                </a:solidFill>
              </a:defRPr>
            </a:lvl6pPr>
            <a:lvl7pPr algn="l">
              <a:defRPr sz="1425" b="1">
                <a:solidFill>
                  <a:srgbClr val="38D6C4"/>
                </a:solidFill>
              </a:defRPr>
            </a:lvl7pPr>
            <a:lvl8pPr algn="l">
              <a:defRPr sz="1425" b="1">
                <a:solidFill>
                  <a:srgbClr val="38D6C4"/>
                </a:solidFill>
              </a:defRPr>
            </a:lvl8pPr>
            <a:lvl9pPr algn="l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자동 행동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CC617D-EBC1-4136-98B6-F4ADACB1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909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2F5F4"/>
                </a:solidFill>
              </a:defRPr>
            </a:defPPr>
            <a:lvl1pPr algn="l">
              <a:defRPr sz="1500" b="0">
                <a:solidFill>
                  <a:srgbClr val="F2F5F4"/>
                </a:solidFill>
              </a:defRPr>
            </a:lvl1pPr>
            <a:lvl2pPr algn="l">
              <a:defRPr sz="1500" b="0">
                <a:solidFill>
                  <a:srgbClr val="F2F5F4"/>
                </a:solidFill>
              </a:defRPr>
            </a:lvl2pPr>
            <a:lvl3pPr algn="l">
              <a:defRPr sz="1500" b="0">
                <a:solidFill>
                  <a:srgbClr val="F2F5F4"/>
                </a:solidFill>
              </a:defRPr>
            </a:lvl3pPr>
            <a:lvl4pPr algn="l">
              <a:defRPr sz="1500" b="0">
                <a:solidFill>
                  <a:srgbClr val="F2F5F4"/>
                </a:solidFill>
              </a:defRPr>
            </a:lvl4pPr>
            <a:lvl5pPr algn="l">
              <a:defRPr sz="1500" b="0">
                <a:solidFill>
                  <a:srgbClr val="F2F5F4"/>
                </a:solidFill>
              </a:defRPr>
            </a:lvl5pPr>
            <a:lvl6pPr algn="l">
              <a:defRPr sz="1500" b="0">
                <a:solidFill>
                  <a:srgbClr val="F2F5F4"/>
                </a:solidFill>
              </a:defRPr>
            </a:lvl6pPr>
            <a:lvl7pPr algn="l">
              <a:defRPr sz="1500" b="0">
                <a:solidFill>
                  <a:srgbClr val="F2F5F4"/>
                </a:solidFill>
              </a:defRPr>
            </a:lvl7pPr>
            <a:lvl8pPr algn="l">
              <a:defRPr sz="1500" b="0">
                <a:solidFill>
                  <a:srgbClr val="F2F5F4"/>
                </a:solidFill>
              </a:defRPr>
            </a:lvl8pPr>
            <a:lvl9pPr algn="l">
              <a:defRPr sz="150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F2F5F4"/>
                </a:solidFill>
              </a:defRPr>
            </a:pPr>
            <a:r>
              <a:rPr sz="1500" b="0">
                <a:solidFill>
                  <a:srgbClr val="F2F5F4"/>
                </a:solidFill>
              </a:rPr>
              <a:t>사건에서 선택할 행동의 가중치 변화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B30FFA-B6F9-4412-B788-9E091411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21986D-232B-423A-9611-75037E2F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38D6C4"/>
                </a:solidFill>
              </a:defRPr>
            </a:defPPr>
            <a:lvl1pPr algn="l">
              <a:defRPr sz="1425" b="1">
                <a:solidFill>
                  <a:srgbClr val="38D6C4"/>
                </a:solidFill>
              </a:defRPr>
            </a:lvl1pPr>
            <a:lvl2pPr algn="l">
              <a:defRPr sz="1425" b="1">
                <a:solidFill>
                  <a:srgbClr val="38D6C4"/>
                </a:solidFill>
              </a:defRPr>
            </a:lvl2pPr>
            <a:lvl3pPr algn="l">
              <a:defRPr sz="1425" b="1">
                <a:solidFill>
                  <a:srgbClr val="38D6C4"/>
                </a:solidFill>
              </a:defRPr>
            </a:lvl3pPr>
            <a:lvl4pPr algn="l">
              <a:defRPr sz="1425" b="1">
                <a:solidFill>
                  <a:srgbClr val="38D6C4"/>
                </a:solidFill>
              </a:defRPr>
            </a:lvl4pPr>
            <a:lvl5pPr algn="l">
              <a:defRPr sz="1425" b="1">
                <a:solidFill>
                  <a:srgbClr val="38D6C4"/>
                </a:solidFill>
              </a:defRPr>
            </a:lvl5pPr>
            <a:lvl6pPr algn="l">
              <a:defRPr sz="1425" b="1">
                <a:solidFill>
                  <a:srgbClr val="38D6C4"/>
                </a:solidFill>
              </a:defRPr>
            </a:lvl6pPr>
            <a:lvl7pPr algn="l">
              <a:defRPr sz="1425" b="1">
                <a:solidFill>
                  <a:srgbClr val="38D6C4"/>
                </a:solidFill>
              </a:defRPr>
            </a:lvl7pPr>
            <a:lvl8pPr algn="l">
              <a:defRPr sz="1425" b="1">
                <a:solidFill>
                  <a:srgbClr val="38D6C4"/>
                </a:solidFill>
              </a:defRPr>
            </a:lvl8pPr>
            <a:lvl9pPr algn="l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문장 표현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2D85FE-DBCB-4B9F-8B96-4E874CFF9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576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2F5F4"/>
                </a:solidFill>
              </a:defRPr>
            </a:defPPr>
            <a:lvl1pPr algn="l">
              <a:defRPr sz="1500" b="0">
                <a:solidFill>
                  <a:srgbClr val="F2F5F4"/>
                </a:solidFill>
              </a:defRPr>
            </a:lvl1pPr>
            <a:lvl2pPr algn="l">
              <a:defRPr sz="1500" b="0">
                <a:solidFill>
                  <a:srgbClr val="F2F5F4"/>
                </a:solidFill>
              </a:defRPr>
            </a:lvl2pPr>
            <a:lvl3pPr algn="l">
              <a:defRPr sz="1500" b="0">
                <a:solidFill>
                  <a:srgbClr val="F2F5F4"/>
                </a:solidFill>
              </a:defRPr>
            </a:lvl3pPr>
            <a:lvl4pPr algn="l">
              <a:defRPr sz="1500" b="0">
                <a:solidFill>
                  <a:srgbClr val="F2F5F4"/>
                </a:solidFill>
              </a:defRPr>
            </a:lvl4pPr>
            <a:lvl5pPr algn="l">
              <a:defRPr sz="1500" b="0">
                <a:solidFill>
                  <a:srgbClr val="F2F5F4"/>
                </a:solidFill>
              </a:defRPr>
            </a:lvl5pPr>
            <a:lvl6pPr algn="l">
              <a:defRPr sz="1500" b="0">
                <a:solidFill>
                  <a:srgbClr val="F2F5F4"/>
                </a:solidFill>
              </a:defRPr>
            </a:lvl6pPr>
            <a:lvl7pPr algn="l">
              <a:defRPr sz="1500" b="0">
                <a:solidFill>
                  <a:srgbClr val="F2F5F4"/>
                </a:solidFill>
              </a:defRPr>
            </a:lvl7pPr>
            <a:lvl8pPr algn="l">
              <a:defRPr sz="1500" b="0">
                <a:solidFill>
                  <a:srgbClr val="F2F5F4"/>
                </a:solidFill>
              </a:defRPr>
            </a:lvl8pPr>
            <a:lvl9pPr algn="l">
              <a:defRPr sz="150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F2F5F4"/>
                </a:solidFill>
              </a:defRPr>
            </a:pPr>
            <a:r>
              <a:rPr sz="1500" b="0">
                <a:solidFill>
                  <a:srgbClr val="F2F5F4"/>
                </a:solidFill>
              </a:rPr>
              <a:t>같은 사건의 태도·대사·행동 묘사 변화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44D6BF-A083-4E04-B661-99A3A7A3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9A5DAC-88D1-47DE-AEC3-12DEB7A9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244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38D6C4"/>
                </a:solidFill>
              </a:defRPr>
            </a:defPPr>
            <a:lvl1pPr algn="l">
              <a:defRPr sz="1425" b="1">
                <a:solidFill>
                  <a:srgbClr val="38D6C4"/>
                </a:solidFill>
              </a:defRPr>
            </a:lvl1pPr>
            <a:lvl2pPr algn="l">
              <a:defRPr sz="1425" b="1">
                <a:solidFill>
                  <a:srgbClr val="38D6C4"/>
                </a:solidFill>
              </a:defRPr>
            </a:lvl2pPr>
            <a:lvl3pPr algn="l">
              <a:defRPr sz="1425" b="1">
                <a:solidFill>
                  <a:srgbClr val="38D6C4"/>
                </a:solidFill>
              </a:defRPr>
            </a:lvl3pPr>
            <a:lvl4pPr algn="l">
              <a:defRPr sz="1425" b="1">
                <a:solidFill>
                  <a:srgbClr val="38D6C4"/>
                </a:solidFill>
              </a:defRPr>
            </a:lvl4pPr>
            <a:lvl5pPr algn="l">
              <a:defRPr sz="1425" b="1">
                <a:solidFill>
                  <a:srgbClr val="38D6C4"/>
                </a:solidFill>
              </a:defRPr>
            </a:lvl5pPr>
            <a:lvl6pPr algn="l">
              <a:defRPr sz="1425" b="1">
                <a:solidFill>
                  <a:srgbClr val="38D6C4"/>
                </a:solidFill>
              </a:defRPr>
            </a:lvl6pPr>
            <a:lvl7pPr algn="l">
              <a:defRPr sz="1425" b="1">
                <a:solidFill>
                  <a:srgbClr val="38D6C4"/>
                </a:solidFill>
              </a:defRPr>
            </a:lvl7pPr>
            <a:lvl8pPr algn="l">
              <a:defRPr sz="1425" b="1">
                <a:solidFill>
                  <a:srgbClr val="38D6C4"/>
                </a:solidFill>
              </a:defRPr>
            </a:lvl8pPr>
            <a:lvl9pPr algn="l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대인 반응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A1B18A-7183-439C-8871-82E5DFBB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244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2F5F4"/>
                </a:solidFill>
              </a:defRPr>
            </a:defPPr>
            <a:lvl1pPr algn="l">
              <a:defRPr sz="1500" b="0">
                <a:solidFill>
                  <a:srgbClr val="F2F5F4"/>
                </a:solidFill>
              </a:defRPr>
            </a:lvl1pPr>
            <a:lvl2pPr algn="l">
              <a:defRPr sz="1500" b="0">
                <a:solidFill>
                  <a:srgbClr val="F2F5F4"/>
                </a:solidFill>
              </a:defRPr>
            </a:lvl2pPr>
            <a:lvl3pPr algn="l">
              <a:defRPr sz="1500" b="0">
                <a:solidFill>
                  <a:srgbClr val="F2F5F4"/>
                </a:solidFill>
              </a:defRPr>
            </a:lvl3pPr>
            <a:lvl4pPr algn="l">
              <a:defRPr sz="1500" b="0">
                <a:solidFill>
                  <a:srgbClr val="F2F5F4"/>
                </a:solidFill>
              </a:defRPr>
            </a:lvl4pPr>
            <a:lvl5pPr algn="l">
              <a:defRPr sz="1500" b="0">
                <a:solidFill>
                  <a:srgbClr val="F2F5F4"/>
                </a:solidFill>
              </a:defRPr>
            </a:lvl5pPr>
            <a:lvl6pPr algn="l">
              <a:defRPr sz="1500" b="0">
                <a:solidFill>
                  <a:srgbClr val="F2F5F4"/>
                </a:solidFill>
              </a:defRPr>
            </a:lvl6pPr>
            <a:lvl7pPr algn="l">
              <a:defRPr sz="1500" b="0">
                <a:solidFill>
                  <a:srgbClr val="F2F5F4"/>
                </a:solidFill>
              </a:defRPr>
            </a:lvl7pPr>
            <a:lvl8pPr algn="l">
              <a:defRPr sz="1500" b="0">
                <a:solidFill>
                  <a:srgbClr val="F2F5F4"/>
                </a:solidFill>
              </a:defRPr>
            </a:lvl8pPr>
            <a:lvl9pPr algn="l">
              <a:defRPr sz="150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F2F5F4"/>
                </a:solidFill>
              </a:defRPr>
            </a:pPr>
            <a:r>
              <a:rPr sz="1500" b="0">
                <a:solidFill>
                  <a:srgbClr val="F2F5F4"/>
                </a:solidFill>
              </a:rPr>
              <a:t>상대의 성격과 관계 기록을 함께 참조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9A21E1-B53A-42CF-8666-D18C0587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EC3239-074C-45A3-8024-1319F5C6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1104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E9C46A"/>
                </a:solidFill>
              </a:defRPr>
            </a:defPPr>
            <a:lvl1pPr algn="ctr">
              <a:defRPr sz="1500" b="1">
                <a:solidFill>
                  <a:srgbClr val="E9C46A"/>
                </a:solidFill>
              </a:defRPr>
            </a:lvl1pPr>
            <a:lvl2pPr algn="ctr">
              <a:defRPr sz="1500" b="1">
                <a:solidFill>
                  <a:srgbClr val="E9C46A"/>
                </a:solidFill>
              </a:defRPr>
            </a:lvl2pPr>
            <a:lvl3pPr algn="ctr">
              <a:defRPr sz="1500" b="1">
                <a:solidFill>
                  <a:srgbClr val="E9C46A"/>
                </a:solidFill>
              </a:defRPr>
            </a:lvl3pPr>
            <a:lvl4pPr algn="ctr">
              <a:defRPr sz="1500" b="1">
                <a:solidFill>
                  <a:srgbClr val="E9C46A"/>
                </a:solidFill>
              </a:defRPr>
            </a:lvl4pPr>
            <a:lvl5pPr algn="ctr">
              <a:defRPr sz="1500" b="1">
                <a:solidFill>
                  <a:srgbClr val="E9C46A"/>
                </a:solidFill>
              </a:defRPr>
            </a:lvl5pPr>
            <a:lvl6pPr algn="ctr">
              <a:defRPr sz="1500" b="1">
                <a:solidFill>
                  <a:srgbClr val="E9C46A"/>
                </a:solidFill>
              </a:defRPr>
            </a:lvl6pPr>
            <a:lvl7pPr algn="ctr">
              <a:defRPr sz="1500" b="1">
                <a:solidFill>
                  <a:srgbClr val="E9C46A"/>
                </a:solidFill>
              </a:defRPr>
            </a:lvl7pPr>
            <a:lvl8pPr algn="ctr">
              <a:defRPr sz="1500" b="1">
                <a:solidFill>
                  <a:srgbClr val="E9C46A"/>
                </a:solidFill>
              </a:defRPr>
            </a:lvl8pPr>
            <a:lvl9pPr algn="ctr">
              <a:defRPr sz="150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E9C46A"/>
                </a:solidFill>
              </a:defRPr>
            </a:pPr>
            <a:r>
              <a:rPr sz="1500" b="1">
                <a:solidFill>
                  <a:srgbClr val="E9C46A"/>
                </a:solidFill>
              </a:rPr>
              <a:t>플레이어의 사전 방침이 행동 범위를 정하고, 성격은 범위 안에서 구체 행동을 선택한다.</a:t>
            </a:r>
          </a:p>
        </p:txBody>
      </p:sp>
    </p:spTree>
    <p:extLst>
      <p:ext uri="{BB962C8B-B14F-4D97-AF65-F5344CB8AC3E}">
        <p14:creationId xmlns:p14="http://schemas.microsoft.com/office/powerpoint/2010/main" val="2929085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10217C8-AE11-4306-9766-00AB5CC2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D6261-1559-4FD7-B136-B17CD7F5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PERSONALITY KEYWORDS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D20263-AC08-4B54-B104-B3A073C4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성격 키워드 1/3 · 관계와 돌봄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674D5-CBB5-403F-91AB-6BBA2DE2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95CC9-EEC9-4844-A6AA-AC62939C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7BDBF7-EBBF-4F51-9E18-304FE1FF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478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이타적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B43D1E-9721-4C04-920B-3C5E93AD7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478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용기 +1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F22477-DC73-4CFC-94EB-C8178015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478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부상자와 약자를 먼저 돕는다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CC642F-12BA-4683-8C36-BC672178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288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BD71DA-F16A-47CF-B518-DE9F7ED4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용감한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E28E77-9FE4-4A47-AA83-9C579F1F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47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용기 +1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27BF90-53FC-4DCB-94A7-1353E681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478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위험한 선행 행동을 자원한다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C66D94-1567-4782-AF28-1E625D89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288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36AB81-2FBF-4B01-A057-6DFC6D6F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협조적인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8AA887-ADD9-43A8-928D-1193F0E8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479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8B3870-969D-44FB-BC23-E07DB35F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479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팀의 계획과 역할 분담을 따른다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63A240-FB25-41D9-BAF5-4405949B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2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DE6FCE-E5D4-4A8D-A0E5-35245246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충성스러운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5AC81D-A348-4011-8EBA-0FEE13A7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6479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490BA7-0E9C-40C7-A884-9E8D8D4D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479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신뢰하는 대원을 쉽게 버리지 않는다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EA7879-2C17-4941-A9CB-F394A022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B1DD35-3596-4F38-ADA6-8488FFC6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사교적인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D9FD98-3E31-4D2B-9DD0-796CFA04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480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E7CD16-CEF1-44DC-B030-ABA5B511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480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먼저 말을 걸고 긴장을 낮춘다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512BBF-ED61-4397-9092-EF28A611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BF5F96-CA65-468E-806E-AC193EFB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480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공감적인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85A880-092D-4D18-A0AB-817954C9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480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F3BE5A-2BDF-4497-B9BD-23809A32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480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상대의 불안과 의도를 빠르게 읽는다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AAAF67-A448-4E62-8103-03D01FDA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290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33B762-C303-440E-9A86-783AD73D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보호적인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44463A-7446-46CB-85F2-0D7B9C15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8481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근력 +1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73BA89-B780-4EF7-B570-787430EE3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481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위험과 동료 사이에 선다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724A54-FD54-4532-B1AD-2AC18967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291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F055E9-3D3F-4F08-B302-58A9BE90C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481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자기희생적인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7A92F5-1489-4531-A675-33BE1986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2481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지구력 +1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110B52-4708-4685-895B-8AB8E48A6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481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본인의 자원을 써서 타인을 살린다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5C764A-1FE3-4559-9836-B7F88879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29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2C5BED-348F-4AB6-BDA9-33D8EB700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유머러스한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396DEE-CE91-41ED-9BE6-E7793483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482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A8B1836-9399-41C9-9947-EDA1EA37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482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공포 상황에서 농담으로 분위기를 바꾼다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808C5BE-A5B9-415A-8619-5C0FEA64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292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B667160-465B-459F-B058-7F4BB1EB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낙관적인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5C93FEB-7D9C-41D9-B40D-76777C22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482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3DF2609-AF0A-4F0A-9F7D-A2FB29006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482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실패 뒤에도 전진 가능성을 찾는다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D1C2EFD-8886-4F68-88AC-63ECACD6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6F17A21-A914-451A-93FC-7334F055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483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인내심 있는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F5EB059-856D-4D3F-841A-C7FBA641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4483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지구력 +1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81848FA-5590-45BB-8B35-26429E7C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483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느린 절차와 대기를 견딘다</a:t>
            </a:r>
          </a:p>
        </p:txBody>
      </p:sp>
    </p:spTree>
    <p:extLst>
      <p:ext uri="{BB962C8B-B14F-4D97-AF65-F5344CB8AC3E}">
        <p14:creationId xmlns:p14="http://schemas.microsoft.com/office/powerpoint/2010/main" val="13471507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1E3AC8E-DD0E-4542-847A-FE2FF4C4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311D27-F002-4F0E-9167-D16B7D389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PERSONALITY KEYWORDS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5242E5-1416-44A3-B20B-D0EB088C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성격 키워드 2/3 · 판단과 통제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7236EC-6E67-4992-A61E-9396ED88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05A6C1-523A-4EE0-AA62-787592C7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4E1FBB-88FC-4CEF-9248-F4866BB8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478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신중한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C12F3-BA31-40E9-BA11-79C4BFE3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478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3C33E1-272C-415A-AFCE-DA096A24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478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위험 전 장비와 탈출로를 확인한다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DD0F1E-152C-4CD0-9C92-01F0AF57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288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B67F05-3E27-4656-951B-8A0B384B5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경계심 많은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7479EC-A91E-49E4-9D4C-A5712839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47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민첩성 +1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C60D86-51D0-4B94-B737-5DE4672E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478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작은 변화와 매복 징후에 반응한다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5A3A3D-0719-448D-B0CE-E4E873EE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288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8B79A2-239E-4492-ADF0-4E2CC6754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호기심 많은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DE1859-5245-4A65-9583-A54ED041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479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13432-FD89-4F38-8D15-2266F2DB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479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불명확한 현상을 가까이 조사한다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379144-9FD9-4E18-852B-78AAA1053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2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8DCC3A-BB07-4D13-9C02-E6E79937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분석적인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069046-B171-443C-985D-5C9448F4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6479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C22608-1402-42C3-8D64-4FA2A2BB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479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기록과 규칙의 모순을 비교한다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940395-8063-42FB-86EA-670BC017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4E28E6-FA33-474D-89B1-FA7398A7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임기응변에 강한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220F58-88E7-400B-8CC8-2EB78C63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480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유연성 +1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3E08AA-C2A8-4908-98C2-EF21002A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480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계획이 깨지면 대체 행동을 만든다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5A69E1-CC8C-44F9-ADC5-449465D4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C01436-EDDF-4264-B39F-5777BBA3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480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교활한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16753A-3E62-4384-B924-C9EACF88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480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교활함 +1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19B06E-BCBF-45F8-AB8A-7EB87EAF6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480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상대와 현상을 속여 유리한 결과를 만든다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C8866C-61DD-43AF-867E-2D3B7F473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290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5D2ADB-881F-4B96-97D1-94ED84C4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의심 많은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00C8EE-DCEE-4C93-AA92-81616982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8481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CB6634-BF8D-4749-9C07-21F0B8BD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481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정보와 타인의 말을 바로 믿지 않는다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B55090-5785-4DCC-83B4-A40F09D7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291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BA25C1-54AE-465B-80D6-36AFC7BA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481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냉정한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29CD155-DE51-4166-B0BA-815F931C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2481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9CFB40-4C6D-4F76-9267-ADD41704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481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관계보다 생존 확률을 우선한다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CC59D0-A683-45FE-A6F4-06960851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29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4CBF43-946F-4F02-B223-E599833D6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꼼꼼한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A3169D-C34B-48EC-B815-3DCFC186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482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균형감각 +1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81FB8A-BA3C-4C9E-92CB-9F438FE8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482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절차와 소지품을 반복 확인한다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924193-B447-460E-8762-006B7FD56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292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5951ED-4A1D-44D1-85F8-9C415E00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질서정연한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045217-031B-49E7-8D53-87012996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482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6A48453-2719-4FD9-8E5D-48862EEE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482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대열과 자원 분배를 정리한다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75EB512-C746-4779-A7E3-9BB5FF82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E49882-A168-4311-A513-F9257104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483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적응력 있는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A4BFA21-9344-47E5-A02A-E8312CA9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4483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유연성 +1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A4C0469-E767-40C7-BDA2-AE75D7FD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483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새 규칙에 빠르게 행동을 맞춘다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0177D7B-F583-45E7-BE83-FF69CCCC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293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706CEA5-8846-4C03-92EF-3DBB484E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규율적인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A883C96-3F04-4E43-BED5-04225239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848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지구력 +1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AE6836A-836F-42C4-A13B-F0296AD3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8483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합의한 방침을 끝까지 지킨다</a:t>
            </a:r>
          </a:p>
        </p:txBody>
      </p:sp>
    </p:spTree>
    <p:extLst>
      <p:ext uri="{BB962C8B-B14F-4D97-AF65-F5344CB8AC3E}">
        <p14:creationId xmlns:p14="http://schemas.microsoft.com/office/powerpoint/2010/main" val="14096356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01E94C7-B55A-4076-8990-43A89499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A6C10-13DC-4E93-AB90-D86D85B2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PERSONALITY KEYWORDS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F4A654-146E-4829-BD88-FD21192F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성격 키워드 3/3 · 욕망과 독립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CCBE3-5791-4A67-A8B5-DAEAB280E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6D468D-4BB5-4ED4-87B4-A3CA645D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289615-4DC1-45F1-BF4A-AB3E20AE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47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야심찬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CB06C5-961A-4C20-BF3E-E15E0B09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47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용기 +1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E22A81-8403-4176-86C5-C903826F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47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높은 성과와 깊은 단계 진입을 원한다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CE9EAC-2F12-4D35-B41D-F95B84ED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75B422-8088-4475-A8BC-1CB1B5B2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28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경쟁적인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34971A-92BE-4EEA-921A-FAC4ABBE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28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민첩성 +1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0296C8-73EB-495C-8E63-F25CDA99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28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기여도와 전리품에서 앞서려 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A2FC17-99AC-486E-99AE-FE493C5E6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90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26B8F2-5DE0-4E17-8179-81A7BEF0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직설적인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DD01D8-281B-4291-A751-AD54848D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09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근력 +1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BA3F9E-AC4F-4E34-B1F0-C08D95CD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09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의심과 반대를 숨기지 않고 말한다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26F940-EE4D-4C68-943B-29229AAF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71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45F55A-83A1-4B0F-B9F5-4649DBE5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90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충동적인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6AF10A-CD6D-482B-B23F-AF97A7CA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90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민첩성 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9F1ABD-DC6E-43E4-84C8-8BE12871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90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확인보다 행동을 먼저 시작한다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2E89F5-FA7E-45C0-A73D-3D035F42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1FCC66-9E86-4B79-825A-5155B78E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71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집요한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BBE8FF-1851-4F75-8DB9-EA4DA34A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971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지구력 +1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BC09F4-D89D-4F43-84F4-9B108C6C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71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실패한 시도를 다른 방식으로 반복한다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C74B73-2EFB-45C7-8F5C-0E50C04C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6F9936-B3AB-4DE6-8CEC-C661D17F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비관적인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FDF24E-58DA-4440-B81D-F29581A8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52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F422E4-528D-4F2B-972E-03099276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최악의 경우를 가정해 철수를 준비한다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B36C78-117D-49EE-9F59-29F74394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5B2E56-7E15-4C88-ACFC-68466F29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탐욕스러운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A575A2-AF2E-4D24-A399-177E24EB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733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교활함 +1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2B162B-9FB7-4A7D-9F63-370DE82C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33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가치 높은 물건을 우선 확보한다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6A300F-BF0C-479E-83DB-37CBBFA1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95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D00BEA-3D41-44B6-8ED9-049C01FF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14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검소한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7E3E1D-5E05-478F-9C28-C880421C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114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603894A-A362-4C21-A5E0-26C7EC9F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14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소모품 사용과 손실을 최소화한다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FAF720-D90C-4584-9878-0FA0362F6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875FFC-E47B-4C7B-844E-4EB3338C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95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수집광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9B56D2-3353-43B0-B1B5-612EF240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495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F334BD-488C-4FB1-AF06-536BE10F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95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쓸모가 불명확한 물건도 챙긴다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925D18-8D1D-439E-B77F-CC835525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57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38174A-5D26-49D7-BC1C-DDFF8FA2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76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독립적인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AF2F81C-318C-4EF9-9FAA-AB8C8360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876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용기 +1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1996D51-B8FA-4095-8DB7-227D080B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76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동료 승인 없이 스스로 판단한다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04E42B4-3C8B-4FB6-BB94-3B20D123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38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72E3BCF-1550-47DE-8367-5F2059C6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반항적인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2312D22-B7C3-4DCB-A6C3-DD2C1C32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257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교활함 +1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93FBD6C-E3FD-4367-8E0D-6ADB49088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257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명령과 다수 의견에 다른 선택을 낸다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ED6CC3-01B9-45D1-95A3-F3C0D0FB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19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765B882-73C8-4DF8-8255-09884123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비밀스러운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E12D233-9535-4B21-B2D0-A359D663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638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교활함 +1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AE4088-5DDF-4AF1-A079-A0A86B62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638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발견과 감정을 늦게 공유한다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CD21975-6FD8-4B67-ACBD-0DE98136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00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A44750-CAB3-47EB-A23B-64F4FAFD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미신적인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5A2639A-D08E-44D7-8C07-6173540A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6019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614B127-66A9-4098-A8AD-1EC1DB82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019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징조와 개인 의식을 판단에 반영한다</a:t>
            </a:r>
          </a:p>
        </p:txBody>
      </p:sp>
    </p:spTree>
    <p:extLst>
      <p:ext uri="{BB962C8B-B14F-4D97-AF65-F5344CB8AC3E}">
        <p14:creationId xmlns:p14="http://schemas.microsoft.com/office/powerpoint/2010/main" val="17042409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569BCB-6FA9-4355-80C8-0D34F828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AA3D67-E82F-453C-B97F-A95AB3F5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AUTONOMOUS NARRATIVE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3C1126-0A0A-4718-97AF-EC0493F4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자동 탐사 씬과 관계 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D904F6-5D1E-4497-8A1B-6D21EB11D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5ADDC5-394A-4B67-B9E3-9363ACE1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507D28-C7EB-469B-A82B-170F16A7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상황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D60321-544F-442A-B772-7CB54605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6685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2F5F4"/>
                </a:solidFill>
              </a:defRPr>
            </a:defPPr>
            <a:lvl1pPr algn="l">
              <a:defRPr sz="1575" b="0">
                <a:solidFill>
                  <a:srgbClr val="F2F5F4"/>
                </a:solidFill>
              </a:defRPr>
            </a:lvl1pPr>
            <a:lvl2pPr algn="l">
              <a:defRPr sz="1575" b="0">
                <a:solidFill>
                  <a:srgbClr val="F2F5F4"/>
                </a:solidFill>
              </a:defRPr>
            </a:lvl2pPr>
            <a:lvl3pPr algn="l">
              <a:defRPr sz="1575" b="0">
                <a:solidFill>
                  <a:srgbClr val="F2F5F4"/>
                </a:solidFill>
              </a:defRPr>
            </a:lvl3pPr>
            <a:lvl4pPr algn="l">
              <a:defRPr sz="1575" b="0">
                <a:solidFill>
                  <a:srgbClr val="F2F5F4"/>
                </a:solidFill>
              </a:defRPr>
            </a:lvl4pPr>
            <a:lvl5pPr algn="l">
              <a:defRPr sz="1575" b="0">
                <a:solidFill>
                  <a:srgbClr val="F2F5F4"/>
                </a:solidFill>
              </a:defRPr>
            </a:lvl5pPr>
            <a:lvl6pPr algn="l">
              <a:defRPr sz="1575" b="0">
                <a:solidFill>
                  <a:srgbClr val="F2F5F4"/>
                </a:solidFill>
              </a:defRPr>
            </a:lvl6pPr>
            <a:lvl7pPr algn="l">
              <a:defRPr sz="1575" b="0">
                <a:solidFill>
                  <a:srgbClr val="F2F5F4"/>
                </a:solidFill>
              </a:defRPr>
            </a:lvl7pPr>
            <a:lvl8pPr algn="l">
              <a:defRPr sz="1575" b="0">
                <a:solidFill>
                  <a:srgbClr val="F2F5F4"/>
                </a:solidFill>
              </a:defRPr>
            </a:lvl8pPr>
            <a:lvl9pPr algn="l">
              <a:defRPr sz="15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2F5F4"/>
                </a:solidFill>
              </a:defRPr>
            </a:pPr>
            <a:r>
              <a:rPr sz="1575" b="0">
                <a:solidFill>
                  <a:srgbClr val="F2F5F4"/>
                </a:solidFill>
              </a:rPr>
              <a:t>관찰 사각에서 동료 한 명이 사라지기 시작한다.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1CC3A7-17DA-48C4-8FBF-CE4B15E4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7F7674-F394-481B-BF32-23E8EAD1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479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성격 반응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45B66A-FFDD-49F3-9569-55573894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447925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2F5F4"/>
                </a:solidFill>
              </a:defRPr>
            </a:defPPr>
            <a:lvl1pPr algn="l">
              <a:defRPr sz="1575" b="0">
                <a:solidFill>
                  <a:srgbClr val="F2F5F4"/>
                </a:solidFill>
              </a:defRPr>
            </a:lvl1pPr>
            <a:lvl2pPr algn="l">
              <a:defRPr sz="1575" b="0">
                <a:solidFill>
                  <a:srgbClr val="F2F5F4"/>
                </a:solidFill>
              </a:defRPr>
            </a:lvl2pPr>
            <a:lvl3pPr algn="l">
              <a:defRPr sz="1575" b="0">
                <a:solidFill>
                  <a:srgbClr val="F2F5F4"/>
                </a:solidFill>
              </a:defRPr>
            </a:lvl3pPr>
            <a:lvl4pPr algn="l">
              <a:defRPr sz="1575" b="0">
                <a:solidFill>
                  <a:srgbClr val="F2F5F4"/>
                </a:solidFill>
              </a:defRPr>
            </a:lvl4pPr>
            <a:lvl5pPr algn="l">
              <a:defRPr sz="1575" b="0">
                <a:solidFill>
                  <a:srgbClr val="F2F5F4"/>
                </a:solidFill>
              </a:defRPr>
            </a:lvl5pPr>
            <a:lvl6pPr algn="l">
              <a:defRPr sz="1575" b="0">
                <a:solidFill>
                  <a:srgbClr val="F2F5F4"/>
                </a:solidFill>
              </a:defRPr>
            </a:lvl6pPr>
            <a:lvl7pPr algn="l">
              <a:defRPr sz="1575" b="0">
                <a:solidFill>
                  <a:srgbClr val="F2F5F4"/>
                </a:solidFill>
              </a:defRPr>
            </a:lvl7pPr>
            <a:lvl8pPr algn="l">
              <a:defRPr sz="1575" b="0">
                <a:solidFill>
                  <a:srgbClr val="F2F5F4"/>
                </a:solidFill>
              </a:defRPr>
            </a:lvl8pPr>
            <a:lvl9pPr algn="l">
              <a:defRPr sz="15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2F5F4"/>
                </a:solidFill>
              </a:defRPr>
            </a:pPr>
            <a:r>
              <a:rPr sz="1575" b="0">
                <a:solidFill>
                  <a:srgbClr val="F2F5F4"/>
                </a:solidFill>
              </a:rPr>
              <a:t>이타적 대원은 손을 뻗고, 신중한 대원은 안전줄부터 고정한다.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BA58DA-9D7C-462C-A904-7C3FE323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289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BFDAC3-4B36-46F7-B8F6-DAC879E4E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관계 반응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2DBB14-C475-4228-84C8-BC4D0E819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42900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2F5F4"/>
                </a:solidFill>
              </a:defRPr>
            </a:defPPr>
            <a:lvl1pPr algn="l">
              <a:defRPr sz="1575" b="0">
                <a:solidFill>
                  <a:srgbClr val="F2F5F4"/>
                </a:solidFill>
              </a:defRPr>
            </a:lvl1pPr>
            <a:lvl2pPr algn="l">
              <a:defRPr sz="1575" b="0">
                <a:solidFill>
                  <a:srgbClr val="F2F5F4"/>
                </a:solidFill>
              </a:defRPr>
            </a:lvl2pPr>
            <a:lvl3pPr algn="l">
              <a:defRPr sz="1575" b="0">
                <a:solidFill>
                  <a:srgbClr val="F2F5F4"/>
                </a:solidFill>
              </a:defRPr>
            </a:lvl3pPr>
            <a:lvl4pPr algn="l">
              <a:defRPr sz="1575" b="0">
                <a:solidFill>
                  <a:srgbClr val="F2F5F4"/>
                </a:solidFill>
              </a:defRPr>
            </a:lvl4pPr>
            <a:lvl5pPr algn="l">
              <a:defRPr sz="1575" b="0">
                <a:solidFill>
                  <a:srgbClr val="F2F5F4"/>
                </a:solidFill>
              </a:defRPr>
            </a:lvl5pPr>
            <a:lvl6pPr algn="l">
              <a:defRPr sz="1575" b="0">
                <a:solidFill>
                  <a:srgbClr val="F2F5F4"/>
                </a:solidFill>
              </a:defRPr>
            </a:lvl6pPr>
            <a:lvl7pPr algn="l">
              <a:defRPr sz="1575" b="0">
                <a:solidFill>
                  <a:srgbClr val="F2F5F4"/>
                </a:solidFill>
              </a:defRPr>
            </a:lvl7pPr>
            <a:lvl8pPr algn="l">
              <a:defRPr sz="1575" b="0">
                <a:solidFill>
                  <a:srgbClr val="F2F5F4"/>
                </a:solidFill>
              </a:defRPr>
            </a:lvl8pPr>
            <a:lvl9pPr algn="l">
              <a:defRPr sz="15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2F5F4"/>
                </a:solidFill>
              </a:defRPr>
            </a:pPr>
            <a:r>
              <a:rPr sz="1575" b="0">
                <a:solidFill>
                  <a:srgbClr val="F2F5F4"/>
                </a:solidFill>
              </a:rPr>
              <a:t>신뢰가 높으면 구조에 동참하고, 마찰이 높으면 책임을 따진다.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0D6B5D-F2E1-403A-8806-8797C978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00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F23C04-4667-427F-8939-F7C9289B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23BC48-FB7E-4F96-81E9-0FB8FC89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10075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2F5F4"/>
                </a:solidFill>
              </a:defRPr>
            </a:defPPr>
            <a:lvl1pPr algn="l">
              <a:defRPr sz="1575" b="0">
                <a:solidFill>
                  <a:srgbClr val="F2F5F4"/>
                </a:solidFill>
              </a:defRPr>
            </a:lvl1pPr>
            <a:lvl2pPr algn="l">
              <a:defRPr sz="1575" b="0">
                <a:solidFill>
                  <a:srgbClr val="F2F5F4"/>
                </a:solidFill>
              </a:defRPr>
            </a:lvl2pPr>
            <a:lvl3pPr algn="l">
              <a:defRPr sz="1575" b="0">
                <a:solidFill>
                  <a:srgbClr val="F2F5F4"/>
                </a:solidFill>
              </a:defRPr>
            </a:lvl3pPr>
            <a:lvl4pPr algn="l">
              <a:defRPr sz="1575" b="0">
                <a:solidFill>
                  <a:srgbClr val="F2F5F4"/>
                </a:solidFill>
              </a:defRPr>
            </a:lvl4pPr>
            <a:lvl5pPr algn="l">
              <a:defRPr sz="1575" b="0">
                <a:solidFill>
                  <a:srgbClr val="F2F5F4"/>
                </a:solidFill>
              </a:defRPr>
            </a:lvl5pPr>
            <a:lvl6pPr algn="l">
              <a:defRPr sz="1575" b="0">
                <a:solidFill>
                  <a:srgbClr val="F2F5F4"/>
                </a:solidFill>
              </a:defRPr>
            </a:lvl6pPr>
            <a:lvl7pPr algn="l">
              <a:defRPr sz="1575" b="0">
                <a:solidFill>
                  <a:srgbClr val="F2F5F4"/>
                </a:solidFill>
              </a:defRPr>
            </a:lvl7pPr>
            <a:lvl8pPr algn="l">
              <a:defRPr sz="1575" b="0">
                <a:solidFill>
                  <a:srgbClr val="F2F5F4"/>
                </a:solidFill>
              </a:defRPr>
            </a:lvl8pPr>
            <a:lvl9pPr algn="l">
              <a:defRPr sz="15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2F5F4"/>
                </a:solidFill>
              </a:defRPr>
            </a:pPr>
            <a:r>
              <a:rPr sz="1575" b="0">
                <a:solidFill>
                  <a:srgbClr val="F2F5F4"/>
                </a:solidFill>
              </a:rPr>
              <a:t>부상·물자·정보·관계 근거가 함께 변한다.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5366BC-CDBF-456E-A794-79F55F22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7B95D4-B1A1-4A9B-9EBA-BDB6C8B0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A2AFAC"/>
                </a:solidFill>
              </a:defRPr>
            </a:defPPr>
            <a:lvl1pPr algn="ctr">
              <a:defRPr sz="1500" b="1">
                <a:solidFill>
                  <a:srgbClr val="A2AFAC"/>
                </a:solidFill>
              </a:defRPr>
            </a:lvl1pPr>
            <a:lvl2pPr algn="ctr">
              <a:defRPr sz="1500" b="1">
                <a:solidFill>
                  <a:srgbClr val="A2AFAC"/>
                </a:solidFill>
              </a:defRPr>
            </a:lvl2pPr>
            <a:lvl3pPr algn="ctr">
              <a:defRPr sz="1500" b="1">
                <a:solidFill>
                  <a:srgbClr val="A2AFAC"/>
                </a:solidFill>
              </a:defRPr>
            </a:lvl3pPr>
            <a:lvl4pPr algn="ctr">
              <a:defRPr sz="1500" b="1">
                <a:solidFill>
                  <a:srgbClr val="A2AFAC"/>
                </a:solidFill>
              </a:defRPr>
            </a:lvl4pPr>
            <a:lvl5pPr algn="ctr">
              <a:defRPr sz="1500" b="1">
                <a:solidFill>
                  <a:srgbClr val="A2AFAC"/>
                </a:solidFill>
              </a:defRPr>
            </a:lvl5pPr>
            <a:lvl6pPr algn="ctr">
              <a:defRPr sz="1500" b="1">
                <a:solidFill>
                  <a:srgbClr val="A2AFAC"/>
                </a:solidFill>
              </a:defRPr>
            </a:lvl6pPr>
            <a:lvl7pPr algn="ctr">
              <a:defRPr sz="1500" b="1">
                <a:solidFill>
                  <a:srgbClr val="A2AFAC"/>
                </a:solidFill>
              </a:defRPr>
            </a:lvl7pPr>
            <a:lvl8pPr algn="ctr">
              <a:defRPr sz="1500" b="1">
                <a:solidFill>
                  <a:srgbClr val="A2AFAC"/>
                </a:solidFill>
              </a:defRPr>
            </a:lvl8pPr>
            <a:lvl9pPr algn="ctr">
              <a:defRPr sz="15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A2AFAC"/>
                </a:solidFill>
              </a:defRPr>
            </a:pPr>
            <a:r>
              <a:rPr sz="1500" b="1">
                <a:solidFill>
                  <a:srgbClr val="A2AFAC"/>
                </a:solidFill>
              </a:rPr>
              <a:t>행동문장 = 인지 → 판단·감정 → 행동 → 상대 반응·관계 결과</a:t>
            </a:r>
          </a:p>
        </p:txBody>
      </p:sp>
    </p:spTree>
    <p:extLst>
      <p:ext uri="{BB962C8B-B14F-4D97-AF65-F5344CB8AC3E}">
        <p14:creationId xmlns:p14="http://schemas.microsoft.com/office/powerpoint/2010/main" val="108357714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9F5447-62F3-4D9C-BCD0-05822D7E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CE9C81-EDB4-484F-8032-77375F47F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BEHAVIOR MODES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FDBBD9-ED5E-49B4-BEC7-70B960E0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상황에 따라 달라지는 대인 행동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295C7F-95E7-47CA-B9F9-A374225E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FE94D-F141-41E9-968A-8117F867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2057A5-6810-40B1-AD2D-137A768B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716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다섯 판단 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896F6E-AA47-49A3-9AF8-98528440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2F5F4"/>
                </a:solidFill>
              </a:defRPr>
            </a:defPPr>
            <a:lvl1pPr algn="l">
              <a:defRPr sz="1350" b="1">
                <a:solidFill>
                  <a:srgbClr val="F2F5F4"/>
                </a:solidFill>
              </a:defRPr>
            </a:lvl1pPr>
            <a:lvl2pPr algn="l">
              <a:defRPr sz="1350" b="1">
                <a:solidFill>
                  <a:srgbClr val="F2F5F4"/>
                </a:solidFill>
              </a:defRPr>
            </a:lvl2pPr>
            <a:lvl3pPr algn="l">
              <a:defRPr sz="1350" b="1">
                <a:solidFill>
                  <a:srgbClr val="F2F5F4"/>
                </a:solidFill>
              </a:defRPr>
            </a:lvl3pPr>
            <a:lvl4pPr algn="l">
              <a:defRPr sz="1350" b="1">
                <a:solidFill>
                  <a:srgbClr val="F2F5F4"/>
                </a:solidFill>
              </a:defRPr>
            </a:lvl4pPr>
            <a:lvl5pPr algn="l">
              <a:defRPr sz="1350" b="1">
                <a:solidFill>
                  <a:srgbClr val="F2F5F4"/>
                </a:solidFill>
              </a:defRPr>
            </a:lvl5pPr>
            <a:lvl6pPr algn="l">
              <a:defRPr sz="1350" b="1">
                <a:solidFill>
                  <a:srgbClr val="F2F5F4"/>
                </a:solidFill>
              </a:defRPr>
            </a:lvl6pPr>
            <a:lvl7pPr algn="l">
              <a:defRPr sz="1350" b="1">
                <a:solidFill>
                  <a:srgbClr val="F2F5F4"/>
                </a:solidFill>
              </a:defRPr>
            </a:lvl7pPr>
            <a:lvl8pPr algn="l">
              <a:defRPr sz="1350" b="1">
                <a:solidFill>
                  <a:srgbClr val="F2F5F4"/>
                </a:solidFill>
              </a:defRPr>
            </a:lvl8pPr>
            <a:lvl9pPr algn="l">
              <a:defRPr sz="13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2F5F4"/>
                </a:solidFill>
              </a:defRPr>
            </a:pPr>
            <a:r>
              <a:rPr sz="1350" b="1">
                <a:solidFill>
                  <a:srgbClr val="F2F5F4"/>
                </a:solidFill>
              </a:rPr>
              <a:t>01  자기 보존 ↔ 집단 우선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191B37-03C6-475A-B63A-C4EEC504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7647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DFEFDD-4440-453A-985F-38006081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86025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2F5F4"/>
                </a:solidFill>
              </a:defRPr>
            </a:defPPr>
            <a:lvl1pPr algn="l">
              <a:defRPr sz="1350" b="1">
                <a:solidFill>
                  <a:srgbClr val="F2F5F4"/>
                </a:solidFill>
              </a:defRPr>
            </a:lvl1pPr>
            <a:lvl2pPr algn="l">
              <a:defRPr sz="1350" b="1">
                <a:solidFill>
                  <a:srgbClr val="F2F5F4"/>
                </a:solidFill>
              </a:defRPr>
            </a:lvl2pPr>
            <a:lvl3pPr algn="l">
              <a:defRPr sz="1350" b="1">
                <a:solidFill>
                  <a:srgbClr val="F2F5F4"/>
                </a:solidFill>
              </a:defRPr>
            </a:lvl3pPr>
            <a:lvl4pPr algn="l">
              <a:defRPr sz="1350" b="1">
                <a:solidFill>
                  <a:srgbClr val="F2F5F4"/>
                </a:solidFill>
              </a:defRPr>
            </a:lvl4pPr>
            <a:lvl5pPr algn="l">
              <a:defRPr sz="1350" b="1">
                <a:solidFill>
                  <a:srgbClr val="F2F5F4"/>
                </a:solidFill>
              </a:defRPr>
            </a:lvl5pPr>
            <a:lvl6pPr algn="l">
              <a:defRPr sz="1350" b="1">
                <a:solidFill>
                  <a:srgbClr val="F2F5F4"/>
                </a:solidFill>
              </a:defRPr>
            </a:lvl6pPr>
            <a:lvl7pPr algn="l">
              <a:defRPr sz="1350" b="1">
                <a:solidFill>
                  <a:srgbClr val="F2F5F4"/>
                </a:solidFill>
              </a:defRPr>
            </a:lvl7pPr>
            <a:lvl8pPr algn="l">
              <a:defRPr sz="1350" b="1">
                <a:solidFill>
                  <a:srgbClr val="F2F5F4"/>
                </a:solidFill>
              </a:defRPr>
            </a:lvl8pPr>
            <a:lvl9pPr algn="l">
              <a:defRPr sz="13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2F5F4"/>
                </a:solidFill>
              </a:defRPr>
            </a:pPr>
            <a:r>
              <a:rPr sz="1350" b="1">
                <a:solidFill>
                  <a:srgbClr val="F2F5F4"/>
                </a:solidFill>
              </a:rPr>
              <a:t>02  위험 회피 ↔ 위험 감수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01340-EA1A-4414-8AED-57CBA152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1465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1A88BD-628B-4A3C-B164-4D2E5FBD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2F5F4"/>
                </a:solidFill>
              </a:defRPr>
            </a:defPPr>
            <a:lvl1pPr algn="l">
              <a:defRPr sz="1350" b="1">
                <a:solidFill>
                  <a:srgbClr val="F2F5F4"/>
                </a:solidFill>
              </a:defRPr>
            </a:lvl1pPr>
            <a:lvl2pPr algn="l">
              <a:defRPr sz="1350" b="1">
                <a:solidFill>
                  <a:srgbClr val="F2F5F4"/>
                </a:solidFill>
              </a:defRPr>
            </a:lvl2pPr>
            <a:lvl3pPr algn="l">
              <a:defRPr sz="1350" b="1">
                <a:solidFill>
                  <a:srgbClr val="F2F5F4"/>
                </a:solidFill>
              </a:defRPr>
            </a:lvl3pPr>
            <a:lvl4pPr algn="l">
              <a:defRPr sz="1350" b="1">
                <a:solidFill>
                  <a:srgbClr val="F2F5F4"/>
                </a:solidFill>
              </a:defRPr>
            </a:lvl4pPr>
            <a:lvl5pPr algn="l">
              <a:defRPr sz="1350" b="1">
                <a:solidFill>
                  <a:srgbClr val="F2F5F4"/>
                </a:solidFill>
              </a:defRPr>
            </a:lvl5pPr>
            <a:lvl6pPr algn="l">
              <a:defRPr sz="1350" b="1">
                <a:solidFill>
                  <a:srgbClr val="F2F5F4"/>
                </a:solidFill>
              </a:defRPr>
            </a:lvl6pPr>
            <a:lvl7pPr algn="l">
              <a:defRPr sz="1350" b="1">
                <a:solidFill>
                  <a:srgbClr val="F2F5F4"/>
                </a:solidFill>
              </a:defRPr>
            </a:lvl7pPr>
            <a:lvl8pPr algn="l">
              <a:defRPr sz="1350" b="1">
                <a:solidFill>
                  <a:srgbClr val="F2F5F4"/>
                </a:solidFill>
              </a:defRPr>
            </a:lvl8pPr>
            <a:lvl9pPr algn="l">
              <a:defRPr sz="13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2F5F4"/>
                </a:solidFill>
              </a:defRPr>
            </a:pPr>
            <a:r>
              <a:rPr sz="1350" b="1">
                <a:solidFill>
                  <a:srgbClr val="F2F5F4"/>
                </a:solidFill>
              </a:rPr>
              <a:t>03  신뢰 ↔ 의심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F8054F-8A1E-422C-B052-2B45B803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528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B5C867-4997-4BD0-AECF-88B57963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62375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2F5F4"/>
                </a:solidFill>
              </a:defRPr>
            </a:defPPr>
            <a:lvl1pPr algn="l">
              <a:defRPr sz="1350" b="1">
                <a:solidFill>
                  <a:srgbClr val="F2F5F4"/>
                </a:solidFill>
              </a:defRPr>
            </a:lvl1pPr>
            <a:lvl2pPr algn="l">
              <a:defRPr sz="1350" b="1">
                <a:solidFill>
                  <a:srgbClr val="F2F5F4"/>
                </a:solidFill>
              </a:defRPr>
            </a:lvl2pPr>
            <a:lvl3pPr algn="l">
              <a:defRPr sz="1350" b="1">
                <a:solidFill>
                  <a:srgbClr val="F2F5F4"/>
                </a:solidFill>
              </a:defRPr>
            </a:lvl3pPr>
            <a:lvl4pPr algn="l">
              <a:defRPr sz="1350" b="1">
                <a:solidFill>
                  <a:srgbClr val="F2F5F4"/>
                </a:solidFill>
              </a:defRPr>
            </a:lvl4pPr>
            <a:lvl5pPr algn="l">
              <a:defRPr sz="1350" b="1">
                <a:solidFill>
                  <a:srgbClr val="F2F5F4"/>
                </a:solidFill>
              </a:defRPr>
            </a:lvl5pPr>
            <a:lvl6pPr algn="l">
              <a:defRPr sz="1350" b="1">
                <a:solidFill>
                  <a:srgbClr val="F2F5F4"/>
                </a:solidFill>
              </a:defRPr>
            </a:lvl6pPr>
            <a:lvl7pPr algn="l">
              <a:defRPr sz="1350" b="1">
                <a:solidFill>
                  <a:srgbClr val="F2F5F4"/>
                </a:solidFill>
              </a:defRPr>
            </a:lvl7pPr>
            <a:lvl8pPr algn="l">
              <a:defRPr sz="1350" b="1">
                <a:solidFill>
                  <a:srgbClr val="F2F5F4"/>
                </a:solidFill>
              </a:defRPr>
            </a:lvl8pPr>
            <a:lvl9pPr algn="l">
              <a:defRPr sz="13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2F5F4"/>
                </a:solidFill>
              </a:defRPr>
            </a:pPr>
            <a:r>
              <a:rPr sz="1350" b="1">
                <a:solidFill>
                  <a:srgbClr val="F2F5F4"/>
                </a:solidFill>
              </a:rPr>
              <a:t>04  주도 ↔ 추종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BBA878-32A8-4576-A554-2A63B096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B1B98F-522F-4B83-8763-9C90E303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005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2F5F4"/>
                </a:solidFill>
              </a:defRPr>
            </a:defPPr>
            <a:lvl1pPr algn="l">
              <a:defRPr sz="1350" b="1">
                <a:solidFill>
                  <a:srgbClr val="F2F5F4"/>
                </a:solidFill>
              </a:defRPr>
            </a:lvl1pPr>
            <a:lvl2pPr algn="l">
              <a:defRPr sz="1350" b="1">
                <a:solidFill>
                  <a:srgbClr val="F2F5F4"/>
                </a:solidFill>
              </a:defRPr>
            </a:lvl2pPr>
            <a:lvl3pPr algn="l">
              <a:defRPr sz="1350" b="1">
                <a:solidFill>
                  <a:srgbClr val="F2F5F4"/>
                </a:solidFill>
              </a:defRPr>
            </a:lvl3pPr>
            <a:lvl4pPr algn="l">
              <a:defRPr sz="1350" b="1">
                <a:solidFill>
                  <a:srgbClr val="F2F5F4"/>
                </a:solidFill>
              </a:defRPr>
            </a:lvl4pPr>
            <a:lvl5pPr algn="l">
              <a:defRPr sz="1350" b="1">
                <a:solidFill>
                  <a:srgbClr val="F2F5F4"/>
                </a:solidFill>
              </a:defRPr>
            </a:lvl5pPr>
            <a:lvl6pPr algn="l">
              <a:defRPr sz="1350" b="1">
                <a:solidFill>
                  <a:srgbClr val="F2F5F4"/>
                </a:solidFill>
              </a:defRPr>
            </a:lvl6pPr>
            <a:lvl7pPr algn="l">
              <a:defRPr sz="1350" b="1">
                <a:solidFill>
                  <a:srgbClr val="F2F5F4"/>
                </a:solidFill>
              </a:defRPr>
            </a:lvl7pPr>
            <a:lvl8pPr algn="l">
              <a:defRPr sz="1350" b="1">
                <a:solidFill>
                  <a:srgbClr val="F2F5F4"/>
                </a:solidFill>
              </a:defRPr>
            </a:lvl8pPr>
            <a:lvl9pPr algn="l">
              <a:defRPr sz="13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2F5F4"/>
                </a:solidFill>
              </a:defRPr>
            </a:pPr>
            <a:r>
              <a:rPr sz="1350" b="1">
                <a:solidFill>
                  <a:srgbClr val="F2F5F4"/>
                </a:solidFill>
              </a:rPr>
              <a:t>05  관계·호혜 민감도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69E4EF-7620-4A00-ACDA-C4E5E7BFB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2917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193470-98A1-42E5-80CB-5924ACB1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3716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E9C46A"/>
                </a:solidFill>
              </a:defRPr>
            </a:defPPr>
            <a:lvl1pPr algn="l">
              <a:defRPr sz="1500" b="1">
                <a:solidFill>
                  <a:srgbClr val="E9C46A"/>
                </a:solidFill>
              </a:defRPr>
            </a:lvl1pPr>
            <a:lvl2pPr algn="l">
              <a:defRPr sz="1500" b="1">
                <a:solidFill>
                  <a:srgbClr val="E9C46A"/>
                </a:solidFill>
              </a:defRPr>
            </a:lvl2pPr>
            <a:lvl3pPr algn="l">
              <a:defRPr sz="1500" b="1">
                <a:solidFill>
                  <a:srgbClr val="E9C46A"/>
                </a:solidFill>
              </a:defRPr>
            </a:lvl3pPr>
            <a:lvl4pPr algn="l">
              <a:defRPr sz="1500" b="1">
                <a:solidFill>
                  <a:srgbClr val="E9C46A"/>
                </a:solidFill>
              </a:defRPr>
            </a:lvl4pPr>
            <a:lvl5pPr algn="l">
              <a:defRPr sz="1500" b="1">
                <a:solidFill>
                  <a:srgbClr val="E9C46A"/>
                </a:solidFill>
              </a:defRPr>
            </a:lvl5pPr>
            <a:lvl6pPr algn="l">
              <a:defRPr sz="1500" b="1">
                <a:solidFill>
                  <a:srgbClr val="E9C46A"/>
                </a:solidFill>
              </a:defRPr>
            </a:lvl6pPr>
            <a:lvl7pPr algn="l">
              <a:defRPr sz="1500" b="1">
                <a:solidFill>
                  <a:srgbClr val="E9C46A"/>
                </a:solidFill>
              </a:defRPr>
            </a:lvl7pPr>
            <a:lvl8pPr algn="l">
              <a:defRPr sz="1500" b="1">
                <a:solidFill>
                  <a:srgbClr val="E9C46A"/>
                </a:solidFill>
              </a:defRPr>
            </a:lvl8pPr>
            <a:lvl9pPr algn="l">
              <a:defRPr sz="150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E9C46A"/>
                </a:solidFill>
              </a:defRPr>
            </a:pPr>
            <a:r>
              <a:rPr sz="1500" b="1">
                <a:solidFill>
                  <a:srgbClr val="E9C46A"/>
                </a:solidFill>
              </a:rPr>
              <a:t>열 가지 행동 양식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847851-3786-4C88-A518-776AC9CE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8478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01  무조건적 협조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13AC57-C5C8-47BE-9E32-F8007D93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8478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02  보호적 협조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9D3EF5-A8DB-471F-BA9B-A4FE701B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4860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03  절차적 협조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F0764A-FBDD-4279-A607-A19800AB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4860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04  조건부 협조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F74C3C-B511-4CDB-9CF5-D789335E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1242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05  호혜적 협조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8ABBEA-6C00-4058-BE2C-3DE61F40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1242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06  거래적 협조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8F1983-5058-4B1B-9407-8B73756CE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7623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07  경쟁적 비협조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D719A2-18C3-40B3-90FB-A14DD21D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623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08  회피적 자기보존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C9E49B-F01E-4248-8BF8-C066CC0A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4005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F2F5F4"/>
                </a:solidFill>
              </a:defRPr>
            </a:defPPr>
            <a:lvl1pPr algn="l">
              <a:defRPr sz="1275" b="0">
                <a:solidFill>
                  <a:srgbClr val="F2F5F4"/>
                </a:solidFill>
              </a:defRPr>
            </a:lvl1pPr>
            <a:lvl2pPr algn="l">
              <a:defRPr sz="1275" b="0">
                <a:solidFill>
                  <a:srgbClr val="F2F5F4"/>
                </a:solidFill>
              </a:defRPr>
            </a:lvl2pPr>
            <a:lvl3pPr algn="l">
              <a:defRPr sz="1275" b="0">
                <a:solidFill>
                  <a:srgbClr val="F2F5F4"/>
                </a:solidFill>
              </a:defRPr>
            </a:lvl3pPr>
            <a:lvl4pPr algn="l">
              <a:defRPr sz="1275" b="0">
                <a:solidFill>
                  <a:srgbClr val="F2F5F4"/>
                </a:solidFill>
              </a:defRPr>
            </a:lvl4pPr>
            <a:lvl5pPr algn="l">
              <a:defRPr sz="1275" b="0">
                <a:solidFill>
                  <a:srgbClr val="F2F5F4"/>
                </a:solidFill>
              </a:defRPr>
            </a:lvl5pPr>
            <a:lvl6pPr algn="l">
              <a:defRPr sz="1275" b="0">
                <a:solidFill>
                  <a:srgbClr val="F2F5F4"/>
                </a:solidFill>
              </a:defRPr>
            </a:lvl6pPr>
            <a:lvl7pPr algn="l">
              <a:defRPr sz="1275" b="0">
                <a:solidFill>
                  <a:srgbClr val="F2F5F4"/>
                </a:solidFill>
              </a:defRPr>
            </a:lvl7pPr>
            <a:lvl8pPr algn="l">
              <a:defRPr sz="1275" b="0">
                <a:solidFill>
                  <a:srgbClr val="F2F5F4"/>
                </a:solidFill>
              </a:defRPr>
            </a:lvl8pPr>
            <a:lvl9pPr algn="l">
              <a:defRPr sz="12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2F5F4"/>
                </a:solidFill>
              </a:defRPr>
            </a:pPr>
            <a:r>
              <a:rPr sz="1275" b="0">
                <a:solidFill>
                  <a:srgbClr val="F2F5F4"/>
                </a:solidFill>
              </a:rPr>
              <a:t>09  기회주의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4C3234-92A4-4591-BE00-6AC46B5F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4005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E86D65"/>
                </a:solidFill>
              </a:defRPr>
            </a:defPPr>
            <a:lvl1pPr algn="l">
              <a:defRPr sz="1275" b="1">
                <a:solidFill>
                  <a:srgbClr val="E86D65"/>
                </a:solidFill>
              </a:defRPr>
            </a:lvl1pPr>
            <a:lvl2pPr algn="l">
              <a:defRPr sz="1275" b="1">
                <a:solidFill>
                  <a:srgbClr val="E86D65"/>
                </a:solidFill>
              </a:defRPr>
            </a:lvl2pPr>
            <a:lvl3pPr algn="l">
              <a:defRPr sz="1275" b="1">
                <a:solidFill>
                  <a:srgbClr val="E86D65"/>
                </a:solidFill>
              </a:defRPr>
            </a:lvl3pPr>
            <a:lvl4pPr algn="l">
              <a:defRPr sz="1275" b="1">
                <a:solidFill>
                  <a:srgbClr val="E86D65"/>
                </a:solidFill>
              </a:defRPr>
            </a:lvl4pPr>
            <a:lvl5pPr algn="l">
              <a:defRPr sz="1275" b="1">
                <a:solidFill>
                  <a:srgbClr val="E86D65"/>
                </a:solidFill>
              </a:defRPr>
            </a:lvl5pPr>
            <a:lvl6pPr algn="l">
              <a:defRPr sz="1275" b="1">
                <a:solidFill>
                  <a:srgbClr val="E86D65"/>
                </a:solidFill>
              </a:defRPr>
            </a:lvl6pPr>
            <a:lvl7pPr algn="l">
              <a:defRPr sz="1275" b="1">
                <a:solidFill>
                  <a:srgbClr val="E86D65"/>
                </a:solidFill>
              </a:defRPr>
            </a:lvl7pPr>
            <a:lvl8pPr algn="l">
              <a:defRPr sz="1275" b="1">
                <a:solidFill>
                  <a:srgbClr val="E86D65"/>
                </a:solidFill>
              </a:defRPr>
            </a:lvl8pPr>
            <a:lvl9pPr algn="l">
              <a:defRPr sz="1275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E86D65"/>
                </a:solidFill>
              </a:defRPr>
            </a:pPr>
            <a:r>
              <a:rPr sz="1275" b="1">
                <a:solidFill>
                  <a:srgbClr val="E86D65"/>
                </a:solidFill>
              </a:rPr>
              <a:t>10  적대적 방해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DB21B-972C-47A6-A72C-E877CADA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62550"/>
            <a:ext cx="6096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E86D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06612F-6CA5-4269-BD11-90E6F19A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276850"/>
            <a:ext cx="565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A2AFAC"/>
                </a:solidFill>
              </a:defRPr>
            </a:defPPr>
            <a:lvl1pPr algn="ctr">
              <a:defRPr sz="1275" b="1">
                <a:solidFill>
                  <a:srgbClr val="A2AFAC"/>
                </a:solidFill>
              </a:defRPr>
            </a:lvl1pPr>
            <a:lvl2pPr algn="ctr">
              <a:defRPr sz="1275" b="1">
                <a:solidFill>
                  <a:srgbClr val="A2AFAC"/>
                </a:solidFill>
              </a:defRPr>
            </a:lvl2pPr>
            <a:lvl3pPr algn="ctr">
              <a:defRPr sz="1275" b="1">
                <a:solidFill>
                  <a:srgbClr val="A2AFAC"/>
                </a:solidFill>
              </a:defRPr>
            </a:lvl3pPr>
            <a:lvl4pPr algn="ctr">
              <a:defRPr sz="1275" b="1">
                <a:solidFill>
                  <a:srgbClr val="A2AFAC"/>
                </a:solidFill>
              </a:defRPr>
            </a:lvl4pPr>
            <a:lvl5pPr algn="ctr">
              <a:defRPr sz="1275" b="1">
                <a:solidFill>
                  <a:srgbClr val="A2AFAC"/>
                </a:solidFill>
              </a:defRPr>
            </a:lvl5pPr>
            <a:lvl6pPr algn="ctr">
              <a:defRPr sz="1275" b="1">
                <a:solidFill>
                  <a:srgbClr val="A2AFAC"/>
                </a:solidFill>
              </a:defRPr>
            </a:lvl6pPr>
            <a:lvl7pPr algn="ctr">
              <a:defRPr sz="1275" b="1">
                <a:solidFill>
                  <a:srgbClr val="A2AFAC"/>
                </a:solidFill>
              </a:defRPr>
            </a:lvl7pPr>
            <a:lvl8pPr algn="ctr">
              <a:defRPr sz="1275" b="1">
                <a:solidFill>
                  <a:srgbClr val="A2AFAC"/>
                </a:solidFill>
              </a:defRPr>
            </a:lvl8pPr>
            <a:lvl9pPr algn="ctr">
              <a:defRPr sz="1275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A2AFAC"/>
                </a:solidFill>
              </a:defRPr>
            </a:pPr>
            <a:r>
              <a:rPr sz="1275" b="1">
                <a:solidFill>
                  <a:srgbClr val="A2AFAC"/>
                </a:solidFill>
              </a:rPr>
              <a:t>적대적 방해는 낮은 신뢰·강한 이해 충돌·실질적 이익이 겹칠 때만 드물게 발생한다.</a:t>
            </a:r>
          </a:p>
        </p:txBody>
      </p:sp>
    </p:spTree>
    <p:extLst>
      <p:ext uri="{BB962C8B-B14F-4D97-AF65-F5344CB8AC3E}">
        <p14:creationId xmlns:p14="http://schemas.microsoft.com/office/powerpoint/2010/main" val="135487621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739CCF-F979-4B42-B307-1102FD3F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935F2-097A-48BF-A7F0-728C73F62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VARIATION SCALE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D7FCC-94D7-4CA8-9999-9FD74483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한 상황에서 몇 문장까지 가능한가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0E3922-1986-4301-ABC2-EA361DC0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D8724F-EA7E-4A7C-9EE1-6E465EC8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263A7D-5376-434A-B352-A4417F0E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38D6C4"/>
                </a:solidFill>
              </a:defRPr>
            </a:defPPr>
            <a:lvl1pPr algn="l">
              <a:defRPr sz="1575" b="1">
                <a:solidFill>
                  <a:srgbClr val="38D6C4"/>
                </a:solidFill>
              </a:defRPr>
            </a:lvl1pPr>
            <a:lvl2pPr algn="l">
              <a:defRPr sz="1575" b="1">
                <a:solidFill>
                  <a:srgbClr val="38D6C4"/>
                </a:solidFill>
              </a:defRPr>
            </a:lvl2pPr>
            <a:lvl3pPr algn="l">
              <a:defRPr sz="1575" b="1">
                <a:solidFill>
                  <a:srgbClr val="38D6C4"/>
                </a:solidFill>
              </a:defRPr>
            </a:lvl3pPr>
            <a:lvl4pPr algn="l">
              <a:defRPr sz="1575" b="1">
                <a:solidFill>
                  <a:srgbClr val="38D6C4"/>
                </a:solidFill>
              </a:defRPr>
            </a:lvl4pPr>
            <a:lvl5pPr algn="l">
              <a:defRPr sz="1575" b="1">
                <a:solidFill>
                  <a:srgbClr val="38D6C4"/>
                </a:solidFill>
              </a:defRPr>
            </a:lvl5pPr>
            <a:lvl6pPr algn="l">
              <a:defRPr sz="1575" b="1">
                <a:solidFill>
                  <a:srgbClr val="38D6C4"/>
                </a:solidFill>
              </a:defRPr>
            </a:lvl6pPr>
            <a:lvl7pPr algn="l">
              <a:defRPr sz="1575" b="1">
                <a:solidFill>
                  <a:srgbClr val="38D6C4"/>
                </a:solidFill>
              </a:defRPr>
            </a:lvl7pPr>
            <a:lvl8pPr algn="l">
              <a:defRPr sz="1575" b="1">
                <a:solidFill>
                  <a:srgbClr val="38D6C4"/>
                </a:solidFill>
              </a:defRPr>
            </a:lvl8pPr>
            <a:lvl9pPr algn="l">
              <a:defRPr sz="15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38D6C4"/>
                </a:solidFill>
              </a:defRPr>
            </a:pPr>
            <a:r>
              <a:rPr sz="1575" b="1">
                <a:solidFill>
                  <a:srgbClr val="38D6C4"/>
                </a:solidFill>
              </a:rPr>
              <a:t>이론적 판정 상태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0C62A9-C5EC-4197-AAF5-B39C40ED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2F5F4"/>
                </a:solidFill>
              </a:defRPr>
            </a:defPPr>
            <a:lvl1pPr algn="l">
              <a:defRPr sz="2250" b="1">
                <a:solidFill>
                  <a:srgbClr val="F2F5F4"/>
                </a:solidFill>
              </a:defRPr>
            </a:lvl1pPr>
            <a:lvl2pPr algn="l">
              <a:defRPr sz="2250" b="1">
                <a:solidFill>
                  <a:srgbClr val="F2F5F4"/>
                </a:solidFill>
              </a:defRPr>
            </a:lvl2pPr>
            <a:lvl3pPr algn="l">
              <a:defRPr sz="2250" b="1">
                <a:solidFill>
                  <a:srgbClr val="F2F5F4"/>
                </a:solidFill>
              </a:defRPr>
            </a:lvl3pPr>
            <a:lvl4pPr algn="l">
              <a:defRPr sz="2250" b="1">
                <a:solidFill>
                  <a:srgbClr val="F2F5F4"/>
                </a:solidFill>
              </a:defRPr>
            </a:lvl4pPr>
            <a:lvl5pPr algn="l">
              <a:defRPr sz="2250" b="1">
                <a:solidFill>
                  <a:srgbClr val="F2F5F4"/>
                </a:solidFill>
              </a:defRPr>
            </a:lvl5pPr>
            <a:lvl6pPr algn="l">
              <a:defRPr sz="2250" b="1">
                <a:solidFill>
                  <a:srgbClr val="F2F5F4"/>
                </a:solidFill>
              </a:defRPr>
            </a:lvl6pPr>
            <a:lvl7pPr algn="l">
              <a:defRPr sz="2250" b="1">
                <a:solidFill>
                  <a:srgbClr val="F2F5F4"/>
                </a:solidFill>
              </a:defRPr>
            </a:lvl7pPr>
            <a:lvl8pPr algn="l">
              <a:defRPr sz="2250" b="1">
                <a:solidFill>
                  <a:srgbClr val="F2F5F4"/>
                </a:solidFill>
              </a:defRPr>
            </a:lvl8pPr>
            <a:lvl9pPr algn="l">
              <a:defRPr sz="22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2F5F4"/>
                </a:solidFill>
              </a:defRPr>
            </a:pPr>
            <a:r>
              <a:rPr sz="2250" b="1">
                <a:solidFill>
                  <a:srgbClr val="F2F5F4"/>
                </a:solidFill>
              </a:rPr>
              <a:t>36C5 = 376,992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5683C4-BFE5-4748-852F-5ED0EA1D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241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캐릭터 한 명의 성격 조합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AB5FD8-D8A1-45A3-B078-C1D2FCC0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376,992² × 10 × 6 × 4 ×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2FB049-7C6F-4C5C-9B87-25D6B9AA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5143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38D6C4"/>
                </a:solidFill>
              </a:defRPr>
            </a:defPPr>
            <a:lvl1pPr algn="l">
              <a:defRPr sz="3150" b="1">
                <a:solidFill>
                  <a:srgbClr val="38D6C4"/>
                </a:solidFill>
              </a:defRPr>
            </a:lvl1pPr>
            <a:lvl2pPr algn="l">
              <a:defRPr sz="3150" b="1">
                <a:solidFill>
                  <a:srgbClr val="38D6C4"/>
                </a:solidFill>
              </a:defRPr>
            </a:lvl2pPr>
            <a:lvl3pPr algn="l">
              <a:defRPr sz="3150" b="1">
                <a:solidFill>
                  <a:srgbClr val="38D6C4"/>
                </a:solidFill>
              </a:defRPr>
            </a:lvl3pPr>
            <a:lvl4pPr algn="l">
              <a:defRPr sz="3150" b="1">
                <a:solidFill>
                  <a:srgbClr val="38D6C4"/>
                </a:solidFill>
              </a:defRPr>
            </a:lvl4pPr>
            <a:lvl5pPr algn="l">
              <a:defRPr sz="3150" b="1">
                <a:solidFill>
                  <a:srgbClr val="38D6C4"/>
                </a:solidFill>
              </a:defRPr>
            </a:lvl5pPr>
            <a:lvl6pPr algn="l">
              <a:defRPr sz="3150" b="1">
                <a:solidFill>
                  <a:srgbClr val="38D6C4"/>
                </a:solidFill>
              </a:defRPr>
            </a:lvl6pPr>
            <a:lvl7pPr algn="l">
              <a:defRPr sz="3150" b="1">
                <a:solidFill>
                  <a:srgbClr val="38D6C4"/>
                </a:solidFill>
              </a:defRPr>
            </a:lvl7pPr>
            <a:lvl8pPr algn="l">
              <a:defRPr sz="3150" b="1">
                <a:solidFill>
                  <a:srgbClr val="38D6C4"/>
                </a:solidFill>
              </a:defRPr>
            </a:lvl8pPr>
            <a:lvl9pPr algn="l">
              <a:defRPr sz="31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38D6C4"/>
                </a:solidFill>
              </a:defRPr>
            </a:pPr>
            <a:r>
              <a:rPr sz="3150" b="1">
                <a:solidFill>
                  <a:srgbClr val="38D6C4"/>
                </a:solidFill>
              </a:rPr>
              <a:t>≈ 102.3조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63183D-27FD-4CDE-9E6B-0E5FFCB0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576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2AFAC"/>
                </a:solidFill>
              </a:defRPr>
            </a:defPPr>
            <a:lvl1pPr algn="l">
              <a:defRPr sz="1200" b="0">
                <a:solidFill>
                  <a:srgbClr val="A2AFAC"/>
                </a:solidFill>
              </a:defRPr>
            </a:lvl1pPr>
            <a:lvl2pPr algn="l">
              <a:defRPr sz="1200" b="0">
                <a:solidFill>
                  <a:srgbClr val="A2AFAC"/>
                </a:solidFill>
              </a:defRPr>
            </a:lvl2pPr>
            <a:lvl3pPr algn="l">
              <a:defRPr sz="1200" b="0">
                <a:solidFill>
                  <a:srgbClr val="A2AFAC"/>
                </a:solidFill>
              </a:defRPr>
            </a:lvl3pPr>
            <a:lvl4pPr algn="l">
              <a:defRPr sz="1200" b="0">
                <a:solidFill>
                  <a:srgbClr val="A2AFAC"/>
                </a:solidFill>
              </a:defRPr>
            </a:lvl4pPr>
            <a:lvl5pPr algn="l">
              <a:defRPr sz="1200" b="0">
                <a:solidFill>
                  <a:srgbClr val="A2AFAC"/>
                </a:solidFill>
              </a:defRPr>
            </a:lvl5pPr>
            <a:lvl6pPr algn="l">
              <a:defRPr sz="1200" b="0">
                <a:solidFill>
                  <a:srgbClr val="A2AFAC"/>
                </a:solidFill>
              </a:defRPr>
            </a:lvl6pPr>
            <a:lvl7pPr algn="l">
              <a:defRPr sz="1200" b="0">
                <a:solidFill>
                  <a:srgbClr val="A2AFAC"/>
                </a:solidFill>
              </a:defRPr>
            </a:lvl7pPr>
            <a:lvl8pPr algn="l">
              <a:defRPr sz="1200" b="0">
                <a:solidFill>
                  <a:srgbClr val="A2AFAC"/>
                </a:solidFill>
              </a:defRPr>
            </a:lvl8pPr>
            <a:lvl9pPr algn="l">
              <a:defRPr sz="120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2AFAC"/>
                </a:solidFill>
              </a:defRPr>
            </a:pPr>
            <a:r>
              <a:rPr sz="1200" b="0">
                <a:solidFill>
                  <a:srgbClr val="A2AFAC"/>
                </a:solidFill>
              </a:rPr>
              <a:t>두 캐릭터 × 행동 양식 × 관계 × 상태 × 물자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81012C-A815-4AF8-945D-CC777F3F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09700"/>
            <a:ext cx="514350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FEB220-C425-42D7-88E1-527C01D79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145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E9C46A"/>
                </a:solidFill>
              </a:defRPr>
            </a:defPPr>
            <a:lvl1pPr algn="ctr">
              <a:defRPr sz="1575" b="1">
                <a:solidFill>
                  <a:srgbClr val="E9C46A"/>
                </a:solidFill>
              </a:defRPr>
            </a:lvl1pPr>
            <a:lvl2pPr algn="ctr">
              <a:defRPr sz="1575" b="1">
                <a:solidFill>
                  <a:srgbClr val="E9C46A"/>
                </a:solidFill>
              </a:defRPr>
            </a:lvl2pPr>
            <a:lvl3pPr algn="ctr">
              <a:defRPr sz="1575" b="1">
                <a:solidFill>
                  <a:srgbClr val="E9C46A"/>
                </a:solidFill>
              </a:defRPr>
            </a:lvl3pPr>
            <a:lvl4pPr algn="ctr">
              <a:defRPr sz="1575" b="1">
                <a:solidFill>
                  <a:srgbClr val="E9C46A"/>
                </a:solidFill>
              </a:defRPr>
            </a:lvl4pPr>
            <a:lvl5pPr algn="ctr">
              <a:defRPr sz="1575" b="1">
                <a:solidFill>
                  <a:srgbClr val="E9C46A"/>
                </a:solidFill>
              </a:defRPr>
            </a:lvl5pPr>
            <a:lvl6pPr algn="ctr">
              <a:defRPr sz="1575" b="1">
                <a:solidFill>
                  <a:srgbClr val="E9C46A"/>
                </a:solidFill>
              </a:defRPr>
            </a:lvl6pPr>
            <a:lvl7pPr algn="ctr">
              <a:defRPr sz="1575" b="1">
                <a:solidFill>
                  <a:srgbClr val="E9C46A"/>
                </a:solidFill>
              </a:defRPr>
            </a:lvl7pPr>
            <a:lvl8pPr algn="ctr">
              <a:defRPr sz="1575" b="1">
                <a:solidFill>
                  <a:srgbClr val="E9C46A"/>
                </a:solidFill>
              </a:defRPr>
            </a:lvl8pPr>
            <a:lvl9pPr algn="ctr">
              <a:defRPr sz="1575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E9C46A"/>
                </a:solidFill>
              </a:defRPr>
            </a:pPr>
            <a:r>
              <a:rPr sz="1575" b="1">
                <a:solidFill>
                  <a:srgbClr val="E9C46A"/>
                </a:solidFill>
              </a:rPr>
              <a:t>실무용 모듈 문장 조합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F2D253-9DC5-4D7C-BC38-E3A35309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449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 b="1">
                <a:solidFill>
                  <a:srgbClr val="F2F5F4"/>
                </a:solidFill>
              </a:defRPr>
            </a:defPPr>
            <a:lvl1pPr algn="ctr">
              <a:defRPr sz="2025" b="1">
                <a:solidFill>
                  <a:srgbClr val="F2F5F4"/>
                </a:solidFill>
              </a:defRPr>
            </a:lvl1pPr>
            <a:lvl2pPr algn="ctr">
              <a:defRPr sz="2025" b="1">
                <a:solidFill>
                  <a:srgbClr val="F2F5F4"/>
                </a:solidFill>
              </a:defRPr>
            </a:lvl2pPr>
            <a:lvl3pPr algn="ctr">
              <a:defRPr sz="2025" b="1">
                <a:solidFill>
                  <a:srgbClr val="F2F5F4"/>
                </a:solidFill>
              </a:defRPr>
            </a:lvl3pPr>
            <a:lvl4pPr algn="ctr">
              <a:defRPr sz="2025" b="1">
                <a:solidFill>
                  <a:srgbClr val="F2F5F4"/>
                </a:solidFill>
              </a:defRPr>
            </a:lvl4pPr>
            <a:lvl5pPr algn="ctr">
              <a:defRPr sz="2025" b="1">
                <a:solidFill>
                  <a:srgbClr val="F2F5F4"/>
                </a:solidFill>
              </a:defRPr>
            </a:lvl5pPr>
            <a:lvl6pPr algn="ctr">
              <a:defRPr sz="2025" b="1">
                <a:solidFill>
                  <a:srgbClr val="F2F5F4"/>
                </a:solidFill>
              </a:defRPr>
            </a:lvl6pPr>
            <a:lvl7pPr algn="ctr">
              <a:defRPr sz="2025" b="1">
                <a:solidFill>
                  <a:srgbClr val="F2F5F4"/>
                </a:solidFill>
              </a:defRPr>
            </a:lvl7pPr>
            <a:lvl8pPr algn="ctr">
              <a:defRPr sz="2025" b="1">
                <a:solidFill>
                  <a:srgbClr val="F2F5F4"/>
                </a:solidFill>
              </a:defRPr>
            </a:lvl8pPr>
            <a:lvl9pPr algn="ctr">
              <a:defRPr sz="20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F2F5F4"/>
                </a:solidFill>
              </a:defRPr>
            </a:pPr>
            <a:r>
              <a:rPr sz="2025" b="1">
                <a:solidFill>
                  <a:srgbClr val="F2F5F4"/>
                </a:solidFill>
              </a:rPr>
              <a:t>12 × 10 × 10 × 8 × 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6F1C48-9E48-4207-BA06-79E6A776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81300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0">
                <a:solidFill>
                  <a:srgbClr val="A2AFAC"/>
                </a:solidFill>
              </a:defRPr>
            </a:defPPr>
            <a:lvl1pPr algn="ctr">
              <a:defRPr sz="1275" b="0">
                <a:solidFill>
                  <a:srgbClr val="A2AFAC"/>
                </a:solidFill>
              </a:defRPr>
            </a:lvl1pPr>
            <a:lvl2pPr algn="ctr">
              <a:defRPr sz="1275" b="0">
                <a:solidFill>
                  <a:srgbClr val="A2AFAC"/>
                </a:solidFill>
              </a:defRPr>
            </a:lvl2pPr>
            <a:lvl3pPr algn="ctr">
              <a:defRPr sz="1275" b="0">
                <a:solidFill>
                  <a:srgbClr val="A2AFAC"/>
                </a:solidFill>
              </a:defRPr>
            </a:lvl3pPr>
            <a:lvl4pPr algn="ctr">
              <a:defRPr sz="1275" b="0">
                <a:solidFill>
                  <a:srgbClr val="A2AFAC"/>
                </a:solidFill>
              </a:defRPr>
            </a:lvl4pPr>
            <a:lvl5pPr algn="ctr">
              <a:defRPr sz="1275" b="0">
                <a:solidFill>
                  <a:srgbClr val="A2AFAC"/>
                </a:solidFill>
              </a:defRPr>
            </a:lvl5pPr>
            <a:lvl6pPr algn="ctr">
              <a:defRPr sz="1275" b="0">
                <a:solidFill>
                  <a:srgbClr val="A2AFAC"/>
                </a:solidFill>
              </a:defRPr>
            </a:lvl6pPr>
            <a:lvl7pPr algn="ctr">
              <a:defRPr sz="1275" b="0">
                <a:solidFill>
                  <a:srgbClr val="A2AFAC"/>
                </a:solidFill>
              </a:defRPr>
            </a:lvl7pPr>
            <a:lvl8pPr algn="ctr">
              <a:defRPr sz="1275" b="0">
                <a:solidFill>
                  <a:srgbClr val="A2AFAC"/>
                </a:solidFill>
              </a:defRPr>
            </a:lvl8pPr>
            <a:lvl9pPr algn="ctr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인지 · 판단 · 행동 · 반응 · 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C01D06-D0A7-4570-8A7D-DF0ED59A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57550"/>
            <a:ext cx="4495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000" b="1">
                <a:solidFill>
                  <a:srgbClr val="E9C46A"/>
                </a:solidFill>
              </a:defRPr>
            </a:defPPr>
            <a:lvl1pPr algn="ctr">
              <a:defRPr sz="3000" b="1">
                <a:solidFill>
                  <a:srgbClr val="E9C46A"/>
                </a:solidFill>
              </a:defRPr>
            </a:lvl1pPr>
            <a:lvl2pPr algn="ctr">
              <a:defRPr sz="3000" b="1">
                <a:solidFill>
                  <a:srgbClr val="E9C46A"/>
                </a:solidFill>
              </a:defRPr>
            </a:lvl2pPr>
            <a:lvl3pPr algn="ctr">
              <a:defRPr sz="3000" b="1">
                <a:solidFill>
                  <a:srgbClr val="E9C46A"/>
                </a:solidFill>
              </a:defRPr>
            </a:lvl3pPr>
            <a:lvl4pPr algn="ctr">
              <a:defRPr sz="3000" b="1">
                <a:solidFill>
                  <a:srgbClr val="E9C46A"/>
                </a:solidFill>
              </a:defRPr>
            </a:lvl4pPr>
            <a:lvl5pPr algn="ctr">
              <a:defRPr sz="3000" b="1">
                <a:solidFill>
                  <a:srgbClr val="E9C46A"/>
                </a:solidFill>
              </a:defRPr>
            </a:lvl5pPr>
            <a:lvl6pPr algn="ctr">
              <a:defRPr sz="3000" b="1">
                <a:solidFill>
                  <a:srgbClr val="E9C46A"/>
                </a:solidFill>
              </a:defRPr>
            </a:lvl6pPr>
            <a:lvl7pPr algn="ctr">
              <a:defRPr sz="3000" b="1">
                <a:solidFill>
                  <a:srgbClr val="E9C46A"/>
                </a:solidFill>
              </a:defRPr>
            </a:lvl7pPr>
            <a:lvl8pPr algn="ctr">
              <a:defRPr sz="3000" b="1">
                <a:solidFill>
                  <a:srgbClr val="E9C46A"/>
                </a:solidFill>
              </a:defRPr>
            </a:lvl8pPr>
            <a:lvl9pPr algn="ctr">
              <a:defRPr sz="300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ctr">
              <a:defRPr sz="3000" b="1">
                <a:solidFill>
                  <a:srgbClr val="E9C46A"/>
                </a:solidFill>
              </a:defRPr>
            </a:pPr>
            <a:r>
              <a:rPr sz="3000" b="1">
                <a:solidFill>
                  <a:srgbClr val="E9C46A"/>
                </a:solidFill>
              </a:rPr>
              <a:t>57,600개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41FD50-CD48-4E3C-B0E9-5B1EAE42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43350"/>
            <a:ext cx="449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A2AFAC"/>
                </a:solidFill>
              </a:defRPr>
            </a:defPPr>
            <a:lvl1pPr algn="ctr">
              <a:defRPr sz="1200" b="0">
                <a:solidFill>
                  <a:srgbClr val="A2AFAC"/>
                </a:solidFill>
              </a:defRPr>
            </a:lvl1pPr>
            <a:lvl2pPr algn="ctr">
              <a:defRPr sz="1200" b="0">
                <a:solidFill>
                  <a:srgbClr val="A2AFAC"/>
                </a:solidFill>
              </a:defRPr>
            </a:lvl2pPr>
            <a:lvl3pPr algn="ctr">
              <a:defRPr sz="1200" b="0">
                <a:solidFill>
                  <a:srgbClr val="A2AFAC"/>
                </a:solidFill>
              </a:defRPr>
            </a:lvl3pPr>
            <a:lvl4pPr algn="ctr">
              <a:defRPr sz="1200" b="0">
                <a:solidFill>
                  <a:srgbClr val="A2AFAC"/>
                </a:solidFill>
              </a:defRPr>
            </a:lvl4pPr>
            <a:lvl5pPr algn="ctr">
              <a:defRPr sz="1200" b="0">
                <a:solidFill>
                  <a:srgbClr val="A2AFAC"/>
                </a:solidFill>
              </a:defRPr>
            </a:lvl5pPr>
            <a:lvl6pPr algn="ctr">
              <a:defRPr sz="1200" b="0">
                <a:solidFill>
                  <a:srgbClr val="A2AFAC"/>
                </a:solidFill>
              </a:defRPr>
            </a:lvl6pPr>
            <a:lvl7pPr algn="ctr">
              <a:defRPr sz="1200" b="0">
                <a:solidFill>
                  <a:srgbClr val="A2AFAC"/>
                </a:solidFill>
              </a:defRPr>
            </a:lvl7pPr>
            <a:lvl8pPr algn="ctr">
              <a:defRPr sz="1200" b="0">
                <a:solidFill>
                  <a:srgbClr val="A2AFAC"/>
                </a:solidFill>
              </a:defRPr>
            </a:lvl8pPr>
            <a:lvl9pPr algn="ctr">
              <a:defRPr sz="120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200" b="0">
                <a:solidFill>
                  <a:srgbClr val="A2AFAC"/>
                </a:solidFill>
              </a:defRPr>
            </a:pPr>
            <a:r>
              <a:rPr sz="1200" b="0">
                <a:solidFill>
                  <a:srgbClr val="A2AFAC"/>
                </a:solidFill>
              </a:rPr>
              <a:t>문법·인과·중복 필터 전 최대치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6BDECE-1E12-4249-9254-C4C1043C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006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1">
                <a:solidFill>
                  <a:srgbClr val="F2F5F4"/>
                </a:solidFill>
              </a:defRPr>
            </a:defPPr>
            <a:lvl1pPr algn="ctr">
              <a:defRPr sz="1425" b="1">
                <a:solidFill>
                  <a:srgbClr val="F2F5F4"/>
                </a:solidFill>
              </a:defRPr>
            </a:lvl1pPr>
            <a:lvl2pPr algn="ctr">
              <a:defRPr sz="1425" b="1">
                <a:solidFill>
                  <a:srgbClr val="F2F5F4"/>
                </a:solidFill>
              </a:defRPr>
            </a:lvl2pPr>
            <a:lvl3pPr algn="ctr">
              <a:defRPr sz="1425" b="1">
                <a:solidFill>
                  <a:srgbClr val="F2F5F4"/>
                </a:solidFill>
              </a:defRPr>
            </a:lvl3pPr>
            <a:lvl4pPr algn="ctr">
              <a:defRPr sz="1425" b="1">
                <a:solidFill>
                  <a:srgbClr val="F2F5F4"/>
                </a:solidFill>
              </a:defRPr>
            </a:lvl4pPr>
            <a:lvl5pPr algn="ctr">
              <a:defRPr sz="1425" b="1">
                <a:solidFill>
                  <a:srgbClr val="F2F5F4"/>
                </a:solidFill>
              </a:defRPr>
            </a:lvl5pPr>
            <a:lvl6pPr algn="ctr">
              <a:defRPr sz="1425" b="1">
                <a:solidFill>
                  <a:srgbClr val="F2F5F4"/>
                </a:solidFill>
              </a:defRPr>
            </a:lvl6pPr>
            <a:lvl7pPr algn="ctr">
              <a:defRPr sz="1425" b="1">
                <a:solidFill>
                  <a:srgbClr val="F2F5F4"/>
                </a:solidFill>
              </a:defRPr>
            </a:lvl7pPr>
            <a:lvl8pPr algn="ctr">
              <a:defRPr sz="1425" b="1">
                <a:solidFill>
                  <a:srgbClr val="F2F5F4"/>
                </a:solidFill>
              </a:defRPr>
            </a:lvl8pPr>
            <a:lvl9pPr algn="ctr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102.3조는 상태 공간이며 실제 문장 수가 아니다. 핵심 사건은 의미가 구별되는 100~500개부터 제작한다.</a:t>
            </a:r>
          </a:p>
        </p:txBody>
      </p:sp>
    </p:spTree>
    <p:extLst>
      <p:ext uri="{BB962C8B-B14F-4D97-AF65-F5344CB8AC3E}">
        <p14:creationId xmlns:p14="http://schemas.microsoft.com/office/powerpoint/2010/main" val="8090053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59BAD-6CBA-47A7-9176-D88649BA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B44DC6-BAE6-4AF7-AFE4-C8B03AED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LOOT &amp; LOSS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5DB430-9390-4815-806B-39B59838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무기·아이템·현장 드롭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E462F-EE1C-41D8-A914-B0F11AE6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C5C598-A29B-4BA4-BA37-1D08AB58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3268E0-FBBE-417E-B115-F283B20D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2A4CA3-ED41-4671-8646-D0A9023C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공격력·명중·사거리·행동 속도와 대응 가능한 적 유형을 통해 전투력에 직접 영향을 준다.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19E9C1-98D6-4053-82FC-10696D52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기능 아이템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2F3D73-DD76-47A7-B315-5F6D5EF6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478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치료·탐색·운반·은폐·오염 방지 등 탐사의 부수 효과를 제공한다.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5411C6-E81E-4E33-84E4-0A5CC5A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판매 아이템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4C6B15-0B43-4112-A090-788C497A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상점에 판매해 크레딧과 제작·연구 재화를 얻는다.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171270-75CB-48F4-A010-1DA350EC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385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2F5F4"/>
                </a:solidFill>
              </a:defRPr>
            </a:defPPr>
            <a:lvl1pPr algn="l">
              <a:defRPr sz="1350" b="1">
                <a:solidFill>
                  <a:srgbClr val="F2F5F4"/>
                </a:solidFill>
              </a:defRPr>
            </a:lvl1pPr>
            <a:lvl2pPr algn="l">
              <a:defRPr sz="1350" b="1">
                <a:solidFill>
                  <a:srgbClr val="F2F5F4"/>
                </a:solidFill>
              </a:defRPr>
            </a:lvl2pPr>
            <a:lvl3pPr algn="l">
              <a:defRPr sz="1350" b="1">
                <a:solidFill>
                  <a:srgbClr val="F2F5F4"/>
                </a:solidFill>
              </a:defRPr>
            </a:lvl3pPr>
            <a:lvl4pPr algn="l">
              <a:defRPr sz="1350" b="1">
                <a:solidFill>
                  <a:srgbClr val="F2F5F4"/>
                </a:solidFill>
              </a:defRPr>
            </a:lvl4pPr>
            <a:lvl5pPr algn="l">
              <a:defRPr sz="1350" b="1">
                <a:solidFill>
                  <a:srgbClr val="F2F5F4"/>
                </a:solidFill>
              </a:defRPr>
            </a:lvl5pPr>
            <a:lvl6pPr algn="l">
              <a:defRPr sz="1350" b="1">
                <a:solidFill>
                  <a:srgbClr val="F2F5F4"/>
                </a:solidFill>
              </a:defRPr>
            </a:lvl6pPr>
            <a:lvl7pPr algn="l">
              <a:defRPr sz="1350" b="1">
                <a:solidFill>
                  <a:srgbClr val="F2F5F4"/>
                </a:solidFill>
              </a:defRPr>
            </a:lvl7pPr>
            <a:lvl8pPr algn="l">
              <a:defRPr sz="1350" b="1">
                <a:solidFill>
                  <a:srgbClr val="F2F5F4"/>
                </a:solidFill>
              </a:defRPr>
            </a:lvl8pPr>
            <a:lvl9pPr algn="l">
              <a:defRPr sz="13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2F5F4"/>
                </a:solidFill>
              </a:defRPr>
            </a:pPr>
            <a:r>
              <a:rPr sz="1350" b="1">
                <a:solidFill>
                  <a:srgbClr val="F2F5F4"/>
                </a:solidFill>
              </a:rPr>
              <a:t>서사 아이템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17A82B-5D9F-4AE4-BA5E-5B34BA55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623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로켓 목걸이에 상대 사진을 넣는 것처럼 관계·대화·자동 씬을 바꾼다.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F87D95-9B4C-4BE4-8589-536507AA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11049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E86D6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AF6E27-81E5-4B98-A542-FC9733B0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29200"/>
            <a:ext cx="10629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F2F5F4"/>
                </a:solidFill>
              </a:defRPr>
            </a:defPPr>
            <a:lvl1pPr algn="ctr">
              <a:defRPr sz="1500" b="1">
                <a:solidFill>
                  <a:srgbClr val="F2F5F4"/>
                </a:solidFill>
              </a:defRPr>
            </a:lvl1pPr>
            <a:lvl2pPr algn="ctr">
              <a:defRPr sz="1500" b="1">
                <a:solidFill>
                  <a:srgbClr val="F2F5F4"/>
                </a:solidFill>
              </a:defRPr>
            </a:lvl2pPr>
            <a:lvl3pPr algn="ctr">
              <a:defRPr sz="1500" b="1">
                <a:solidFill>
                  <a:srgbClr val="F2F5F4"/>
                </a:solidFill>
              </a:defRPr>
            </a:lvl3pPr>
            <a:lvl4pPr algn="ctr">
              <a:defRPr sz="1500" b="1">
                <a:solidFill>
                  <a:srgbClr val="F2F5F4"/>
                </a:solidFill>
              </a:defRPr>
            </a:lvl4pPr>
            <a:lvl5pPr algn="ctr">
              <a:defRPr sz="1500" b="1">
                <a:solidFill>
                  <a:srgbClr val="F2F5F4"/>
                </a:solidFill>
              </a:defRPr>
            </a:lvl5pPr>
            <a:lvl6pPr algn="ctr">
              <a:defRPr sz="1500" b="1">
                <a:solidFill>
                  <a:srgbClr val="F2F5F4"/>
                </a:solidFill>
              </a:defRPr>
            </a:lvl6pPr>
            <a:lvl7pPr algn="ctr">
              <a:defRPr sz="1500" b="1">
                <a:solidFill>
                  <a:srgbClr val="F2F5F4"/>
                </a:solidFill>
              </a:defRPr>
            </a:lvl7pPr>
            <a:lvl8pPr algn="ctr">
              <a:defRPr sz="1500" b="1">
                <a:solidFill>
                  <a:srgbClr val="F2F5F4"/>
                </a:solidFill>
              </a:defRPr>
            </a:lvl8pPr>
            <a:lvl9pPr algn="ctr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사망·실종·강제 귀환 시 장비와 수확물을 현장에 떨어뜨릴 수 있다. 후속 탐사나 동료가 회수하지 못하면 잃는다.</a:t>
            </a:r>
          </a:p>
        </p:txBody>
      </p:sp>
    </p:spTree>
    <p:extLst>
      <p:ext uri="{BB962C8B-B14F-4D97-AF65-F5344CB8AC3E}">
        <p14:creationId xmlns:p14="http://schemas.microsoft.com/office/powerpoint/2010/main" val="210442655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220B49-BB20-48B6-A19F-D3761F44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13A602-6385-4E82-BB5D-07715ABD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INFORMATION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18E24E-17BF-446D-BCDA-A8DE0E45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탐사 정보와 개인 노트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E7BDF9-5228-4B2F-9A6B-54120ED9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A203C-2923-409B-BE5F-AC6BDC50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ADFC80-9581-4EAF-81FE-4BCCB737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4780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6B10BA-8D13-44C8-8843-F537E240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4478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사건 목격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2EFCE8-FAE5-4937-BA42-4AD5B821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478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자신 또는 팀원이 규칙 후보를 발견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93D80-6B73-4463-B11F-B601E180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499435-895F-440A-8C4D-66B5D6D8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885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E75222-ED0E-4FFA-AFA2-4109DC86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28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암호문 작성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C123F0-1AC7-47BF-AF58-B2E202BE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288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제한된 어휘와 문형으로 한마디 생성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2DEF52-2A07-408C-B5AA-03F23C1E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5EECF2-8BAB-4E92-86E0-BABF1172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968CFE-C4FA-49F4-AE5A-81363B35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후보 전달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6E5F77-AD66-4CCF-BEA8-072AA487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99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같은 탐사대 안에서만 공유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E84D48-AB9D-42B8-9858-C69FA35D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E4C330-A0B6-4263-8FBA-BB1E0380B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7E51AE-C56C-40CE-B287-07A03A7D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909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하나 선택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25791B-CCC5-4576-A222-5243AF5D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909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플레이어당 탐사 1회에 최대 1개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10681B-5230-4C81-80DB-85A9ED21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34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9F4B79-EE25-4CA6-9140-21CCF251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C9B8D5-6FB2-4196-BDB0-F3E74D49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720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노트 저장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8F6BF4-A9B0-4EF4-A400-6FD662E6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5720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최초 생성자 닉네임과 검증 이력 보존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1DD514-5D34-48B5-B9FA-4C2859C0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244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D3992F-D1C9-4886-BA03-5E3B76DA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104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E9C46A"/>
                </a:solidFill>
              </a:defRPr>
            </a:defPPr>
            <a:lvl1pPr algn="ctr">
              <a:defRPr sz="1500" b="1">
                <a:solidFill>
                  <a:srgbClr val="E9C46A"/>
                </a:solidFill>
              </a:defRPr>
            </a:lvl1pPr>
            <a:lvl2pPr algn="ctr">
              <a:defRPr sz="1500" b="1">
                <a:solidFill>
                  <a:srgbClr val="E9C46A"/>
                </a:solidFill>
              </a:defRPr>
            </a:lvl2pPr>
            <a:lvl3pPr algn="ctr">
              <a:defRPr sz="1500" b="1">
                <a:solidFill>
                  <a:srgbClr val="E9C46A"/>
                </a:solidFill>
              </a:defRPr>
            </a:lvl3pPr>
            <a:lvl4pPr algn="ctr">
              <a:defRPr sz="1500" b="1">
                <a:solidFill>
                  <a:srgbClr val="E9C46A"/>
                </a:solidFill>
              </a:defRPr>
            </a:lvl4pPr>
            <a:lvl5pPr algn="ctr">
              <a:defRPr sz="1500" b="1">
                <a:solidFill>
                  <a:srgbClr val="E9C46A"/>
                </a:solidFill>
              </a:defRPr>
            </a:lvl5pPr>
            <a:lvl6pPr algn="ctr">
              <a:defRPr sz="1500" b="1">
                <a:solidFill>
                  <a:srgbClr val="E9C46A"/>
                </a:solidFill>
              </a:defRPr>
            </a:lvl6pPr>
            <a:lvl7pPr algn="ctr">
              <a:defRPr sz="1500" b="1">
                <a:solidFill>
                  <a:srgbClr val="E9C46A"/>
                </a:solidFill>
              </a:defRPr>
            </a:lvl7pPr>
            <a:lvl8pPr algn="ctr">
              <a:defRPr sz="1500" b="1">
                <a:solidFill>
                  <a:srgbClr val="E9C46A"/>
                </a:solidFill>
              </a:defRPr>
            </a:lvl8pPr>
            <a:lvl9pPr algn="ctr">
              <a:defRPr sz="150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E9C46A"/>
                </a:solidFill>
              </a:defRPr>
            </a:pPr>
            <a:r>
              <a:rPr sz="1500" b="1">
                <a:solidFill>
                  <a:srgbClr val="E9C46A"/>
                </a:solidFill>
              </a:rPr>
              <a:t>솔로는 자신의 관찰 하나를 기록한다. 파티는 여러 관점을 동시에 보존하므로 집단 진척이 빠르다.</a:t>
            </a:r>
          </a:p>
        </p:txBody>
      </p:sp>
    </p:spTree>
    <p:extLst>
      <p:ext uri="{BB962C8B-B14F-4D97-AF65-F5344CB8AC3E}">
        <p14:creationId xmlns:p14="http://schemas.microsoft.com/office/powerpoint/2010/main" val="88171573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A6417B-DEA1-40C6-9F2E-23411EB3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C42579-9037-44D6-A193-C0E3E8BC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PROGRESSION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B82BFA-FEC6-4D2E-BAA3-59036629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사망·성장과 후속 결정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88009-BC5C-4B00-A95F-61AA9356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492730-9782-4580-964A-5FDC47DF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64DAA6-A1E8-4671-BB72-190F8AC8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사망과 복귀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FBDE47-0BF9-4AF0-882A-B71414B0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143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영구 사망은 없다. 미확정 수확물과 자산 일부 또는 캐릭터 레벨을 잃고 연구소로 돌아온다.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734F31-D1A7-45DC-ACB6-A23E1FC39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859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보존되는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C7905-40C7-4A9B-9EFE-07D506C6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5143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이름·외형·성격·칭호·관계·개인 노트와 서사 기록은 유지한다.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E0ECCE-4883-48A5-ACA7-D5D880D8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후속 확정 항목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A5BC1F-FBF6-422A-9784-ECDA4946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01  사망 시 자산과 레벨 손실 비율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39456A-AC69-430D-A05E-CE9399B2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338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02  성격 조합의 상충·중첩 규칙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7AF1B-95BF-4A76-8956-340001C1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03  무기 전투력 공식과 장비 등급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4B5235-11D7-4BBB-AC1A-3CED8075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815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04  현장 드롭의 회수 가능 시간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5638D4-7DF3-4EF2-9DFF-A5E1E556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05  서사 아이템 슬롯과 거래 제한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B0D5AE-E592-40C8-9189-4C4DCA5F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292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06  깊이 단계별 전진·철수 응답 방식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7D2C4E-9E10-4AB9-98D4-ED62882F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0">
                <a:solidFill>
                  <a:srgbClr val="A2AFAC"/>
                </a:solidFill>
              </a:defRPr>
            </a:defPPr>
            <a:lvl1pPr algn="ctr">
              <a:defRPr sz="1125" b="0">
                <a:solidFill>
                  <a:srgbClr val="A2AFAC"/>
                </a:solidFill>
              </a:defRPr>
            </a:lvl1pPr>
            <a:lvl2pPr algn="ctr">
              <a:defRPr sz="1125" b="0">
                <a:solidFill>
                  <a:srgbClr val="A2AFAC"/>
                </a:solidFill>
              </a:defRPr>
            </a:lvl2pPr>
            <a:lvl3pPr algn="ctr">
              <a:defRPr sz="1125" b="0">
                <a:solidFill>
                  <a:srgbClr val="A2AFAC"/>
                </a:solidFill>
              </a:defRPr>
            </a:lvl3pPr>
            <a:lvl4pPr algn="ctr">
              <a:defRPr sz="1125" b="0">
                <a:solidFill>
                  <a:srgbClr val="A2AFAC"/>
                </a:solidFill>
              </a:defRPr>
            </a:lvl4pPr>
            <a:lvl5pPr algn="ctr">
              <a:defRPr sz="1125" b="0">
                <a:solidFill>
                  <a:srgbClr val="A2AFAC"/>
                </a:solidFill>
              </a:defRPr>
            </a:lvl5pPr>
            <a:lvl6pPr algn="ctr">
              <a:defRPr sz="1125" b="0">
                <a:solidFill>
                  <a:srgbClr val="A2AFAC"/>
                </a:solidFill>
              </a:defRPr>
            </a:lvl6pPr>
            <a:lvl7pPr algn="ctr">
              <a:defRPr sz="1125" b="0">
                <a:solidFill>
                  <a:srgbClr val="A2AFAC"/>
                </a:solidFill>
              </a:defRPr>
            </a:lvl7pPr>
            <a:lvl8pPr algn="ctr">
              <a:defRPr sz="1125" b="0">
                <a:solidFill>
                  <a:srgbClr val="A2AFAC"/>
                </a:solidFill>
              </a:defRPr>
            </a:lvl8pPr>
            <a:lvl9pPr algn="ctr">
              <a:defRPr sz="112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A2AFAC"/>
                </a:solidFill>
              </a:defRPr>
            </a:pPr>
            <a:r>
              <a:rPr sz="1125" b="0">
                <a:solidFill>
                  <a:srgbClr val="A2AFAC"/>
                </a:solidFill>
              </a:rPr>
              <a:t>현재 웹 구현은 이전 4인 프로토타입이며, 새 기준의 수치 확정 뒤 재구현한다.</a:t>
            </a:r>
          </a:p>
        </p:txBody>
      </p:sp>
    </p:spTree>
    <p:extLst>
      <p:ext uri="{BB962C8B-B14F-4D97-AF65-F5344CB8AC3E}">
        <p14:creationId xmlns:p14="http://schemas.microsoft.com/office/powerpoint/2010/main" val="7125735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2026-10-22T15:54:52.2150000Z</dcterms:created>
  <dcterms:modified xsi:type="dcterms:W3CDTF">2026-10-22T15:54:52.2150000Z</dcterms:modified>
</coreProperties>
</file>