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2810843f8f44cb" /><Relationship Type="http://schemas.openxmlformats.org/officeDocument/2006/relationships/extended-properties" Target="/docProps/app.xml" Id="Rb3a91e88dc1c4f45" /><Relationship Type="http://schemas.openxmlformats.org/officeDocument/2006/relationships/officeDocument" Target="/ppt/presentation.xml" Id="R27dafba47f2444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acb68211344b78"/>
  </p:sldMasterIdLst>
  <p:notesMasterIdLst>
    <p:notesMasterId xmlns:r="http://schemas.openxmlformats.org/officeDocument/2006/relationships" r:id="R26d439045ff14086"/>
  </p:notesMasterIdLst>
  <p:sldIdLst>
    <p:sldId xmlns:r="http://schemas.openxmlformats.org/officeDocument/2006/relationships" id="256" r:id="Ree87dbd0fb584fb2"/>
    <p:sldId xmlns:r="http://schemas.openxmlformats.org/officeDocument/2006/relationships" id="257" r:id="R58b683d3b2d244be"/>
    <p:sldId xmlns:r="http://schemas.openxmlformats.org/officeDocument/2006/relationships" id="258" r:id="R9e52eeef6506403e"/>
    <p:sldId xmlns:r="http://schemas.openxmlformats.org/officeDocument/2006/relationships" id="259" r:id="Rd1fa7124490b48b6"/>
    <p:sldId xmlns:r="http://schemas.openxmlformats.org/officeDocument/2006/relationships" id="260" r:id="R3810b75ac5ce4283"/>
    <p:sldId xmlns:r="http://schemas.openxmlformats.org/officeDocument/2006/relationships" id="261" r:id="R7f66998cacb8491f"/>
    <p:sldId xmlns:r="http://schemas.openxmlformats.org/officeDocument/2006/relationships" id="262" r:id="R715c9fd1f11b4d33"/>
    <p:sldId xmlns:r="http://schemas.openxmlformats.org/officeDocument/2006/relationships" id="263" r:id="R90263a305979416a"/>
    <p:sldId xmlns:r="http://schemas.openxmlformats.org/officeDocument/2006/relationships" id="264" r:id="R5becf8b0df234362"/>
    <p:sldId xmlns:r="http://schemas.openxmlformats.org/officeDocument/2006/relationships" id="265" r:id="R1aa4e942720a4d2a"/>
    <p:sldId xmlns:r="http://schemas.openxmlformats.org/officeDocument/2006/relationships" id="266" r:id="R3c18d44aabb7484c"/>
    <p:sldId xmlns:r="http://schemas.openxmlformats.org/officeDocument/2006/relationships" id="267" r:id="R87daff43d47a4766"/>
    <p:sldId xmlns:r="http://schemas.openxmlformats.org/officeDocument/2006/relationships" id="268" r:id="R380a4e870dfe4b9e"/>
    <p:sldId xmlns:r="http://schemas.openxmlformats.org/officeDocument/2006/relationships" id="269" r:id="R5df8ec93944a452d"/>
    <p:sldId xmlns:r="http://schemas.openxmlformats.org/officeDocument/2006/relationships" id="270" r:id="R133109a80a0a4cd9"/>
    <p:sldId xmlns:r="http://schemas.openxmlformats.org/officeDocument/2006/relationships" id="271" r:id="R11faae5e0c574399"/>
    <p:sldId xmlns:r="http://schemas.openxmlformats.org/officeDocument/2006/relationships" id="272" r:id="Rd523875f9bb24085"/>
    <p:sldId xmlns:r="http://schemas.openxmlformats.org/officeDocument/2006/relationships" id="273" r:id="R1b98732ccf4e4b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690bfb223b41bd" /><Relationship Type="http://schemas.openxmlformats.org/officeDocument/2006/relationships/slideMaster" Target="/ppt/slideMasters/slideMaster1.xml" Id="Re8acb68211344b78" /><Relationship Type="http://schemas.openxmlformats.org/officeDocument/2006/relationships/notesMaster" Target="/ppt/notesMasters/notesMaster1.xml" Id="R26d439045ff14086" /><Relationship Type="http://schemas.openxmlformats.org/officeDocument/2006/relationships/presProps" Target="/ppt/presProps.xml" Id="R46f196310c994043" /><Relationship Type="http://schemas.openxmlformats.org/officeDocument/2006/relationships/tableStyles" Target="/ppt/tableStyles.xml" Id="R6edda1b4cb1f467f" /><Relationship Type="http://schemas.openxmlformats.org/officeDocument/2006/relationships/slide" Target="/ppt/slides/slide1.xml" Id="Ree87dbd0fb584fb2" /><Relationship Type="http://schemas.openxmlformats.org/officeDocument/2006/relationships/slide" Target="/ppt/slides/slide2.xml" Id="R58b683d3b2d244be" /><Relationship Type="http://schemas.openxmlformats.org/officeDocument/2006/relationships/slide" Target="/ppt/slides/slide3.xml" Id="R9e52eeef6506403e" /><Relationship Type="http://schemas.openxmlformats.org/officeDocument/2006/relationships/slide" Target="/ppt/slides/slide4.xml" Id="Rd1fa7124490b48b6" /><Relationship Type="http://schemas.openxmlformats.org/officeDocument/2006/relationships/slide" Target="/ppt/slides/slide5.xml" Id="R3810b75ac5ce4283" /><Relationship Type="http://schemas.openxmlformats.org/officeDocument/2006/relationships/slide" Target="/ppt/slides/slide6.xml" Id="R7f66998cacb8491f" /><Relationship Type="http://schemas.openxmlformats.org/officeDocument/2006/relationships/slide" Target="/ppt/slides/slide7.xml" Id="R715c9fd1f11b4d33" /><Relationship Type="http://schemas.openxmlformats.org/officeDocument/2006/relationships/slide" Target="/ppt/slides/slide8.xml" Id="R90263a305979416a" /><Relationship Type="http://schemas.openxmlformats.org/officeDocument/2006/relationships/slide" Target="/ppt/slides/slide9.xml" Id="R5becf8b0df234362" /><Relationship Type="http://schemas.openxmlformats.org/officeDocument/2006/relationships/slide" Target="/ppt/slides/slide10.xml" Id="R1aa4e942720a4d2a" /><Relationship Type="http://schemas.openxmlformats.org/officeDocument/2006/relationships/slide" Target="/ppt/slides/slide11.xml" Id="R3c18d44aabb7484c" /><Relationship Type="http://schemas.openxmlformats.org/officeDocument/2006/relationships/slide" Target="/ppt/slides/slide12.xml" Id="R87daff43d47a4766" /><Relationship Type="http://schemas.openxmlformats.org/officeDocument/2006/relationships/slide" Target="/ppt/slides/slide13.xml" Id="R380a4e870dfe4b9e" /><Relationship Type="http://schemas.openxmlformats.org/officeDocument/2006/relationships/slide" Target="/ppt/slides/slide14.xml" Id="R5df8ec93944a452d" /><Relationship Type="http://schemas.openxmlformats.org/officeDocument/2006/relationships/slide" Target="/ppt/slides/slide15.xml" Id="R133109a80a0a4cd9" /><Relationship Type="http://schemas.openxmlformats.org/officeDocument/2006/relationships/slide" Target="/ppt/slides/slide16.xml" Id="R11faae5e0c574399" /><Relationship Type="http://schemas.openxmlformats.org/officeDocument/2006/relationships/slide" Target="/ppt/slides/slide17.xml" Id="Rd523875f9bb24085" /><Relationship Type="http://schemas.openxmlformats.org/officeDocument/2006/relationships/slide" Target="/ppt/slides/slide18.xml" Id="R1b98732ccf4e4b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45daa347374b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c8b42b8d6841f8" /><Relationship Type="http://schemas.openxmlformats.org/officeDocument/2006/relationships/notesMaster" Target="/ppt/notesMasters/notesMaster1.xml" Id="R09f54c40ae3042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f858e28cc447e9" /><Relationship Type="http://schemas.openxmlformats.org/officeDocument/2006/relationships/notesMaster" Target="/ppt/notesMasters/notesMaster1.xml" Id="Re350c686419e48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49895847fd49ed" /><Relationship Type="http://schemas.openxmlformats.org/officeDocument/2006/relationships/notesMaster" Target="/ppt/notesMasters/notesMaster1.xml" Id="Rdca7b646c53f4d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5f9601216b431f" /><Relationship Type="http://schemas.openxmlformats.org/officeDocument/2006/relationships/notesMaster" Target="/ppt/notesMasters/notesMaster1.xml" Id="Rdee1ff46320f4d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8af89b4575411f" /><Relationship Type="http://schemas.openxmlformats.org/officeDocument/2006/relationships/notesMaster" Target="/ppt/notesMasters/notesMaster1.xml" Id="R07184872062b49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76a566886b4b95" /><Relationship Type="http://schemas.openxmlformats.org/officeDocument/2006/relationships/notesMaster" Target="/ppt/notesMasters/notesMaster1.xml" Id="R6f0a9d58eefe44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7c7d38f16e4b44" /><Relationship Type="http://schemas.openxmlformats.org/officeDocument/2006/relationships/notesMaster" Target="/ppt/notesMasters/notesMaster1.xml" Id="R92e911b3b66144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9fb03e9f344195" /><Relationship Type="http://schemas.openxmlformats.org/officeDocument/2006/relationships/notesMaster" Target="/ppt/notesMasters/notesMaster1.xml" Id="Rfe678a6eec1c46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fe0152fd98415e" /><Relationship Type="http://schemas.openxmlformats.org/officeDocument/2006/relationships/notesMaster" Target="/ppt/notesMasters/notesMaster1.xml" Id="R497761beb76d445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5dfb0341ea4825" /><Relationship Type="http://schemas.openxmlformats.org/officeDocument/2006/relationships/notesMaster" Target="/ppt/notesMasters/notesMaster1.xml" Id="R53dcd9ad6cf449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7df6245ec3428b" /><Relationship Type="http://schemas.openxmlformats.org/officeDocument/2006/relationships/notesMaster" Target="/ppt/notesMasters/notesMaster1.xml" Id="R4592c042869740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8ce2ea9f11f4514" /><Relationship Type="http://schemas.openxmlformats.org/officeDocument/2006/relationships/notesMaster" Target="/ppt/notesMasters/notesMaster1.xml" Id="R02ad65cc6f4d44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9b9765e9c0491f" /><Relationship Type="http://schemas.openxmlformats.org/officeDocument/2006/relationships/notesMaster" Target="/ppt/notesMasters/notesMaster1.xml" Id="R230b2a38926f491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f25f0cedd8f4a70" /><Relationship Type="http://schemas.openxmlformats.org/officeDocument/2006/relationships/notesMaster" Target="/ppt/notesMasters/notesMaster1.xml" Id="R8e3abea976fa4f6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4804e124404d35" /><Relationship Type="http://schemas.openxmlformats.org/officeDocument/2006/relationships/notesMaster" Target="/ppt/notesMasters/notesMaster1.xml" Id="R09eddd48698148f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608b1b85ee14b81" /><Relationship Type="http://schemas.openxmlformats.org/officeDocument/2006/relationships/notesMaster" Target="/ppt/notesMasters/notesMaster1.xml" Id="Ra4ab8734f8a145a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6b0375d97034b4c" /><Relationship Type="http://schemas.openxmlformats.org/officeDocument/2006/relationships/notesMaster" Target="/ppt/notesMasters/notesMaster1.xml" Id="R9e57fe9549894ed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e9a4e823ec845c9" /><Relationship Type="http://schemas.openxmlformats.org/officeDocument/2006/relationships/notesMaster" Target="/ppt/notesMasters/notesMaster1.xml" Id="R9d711a9207cb47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f15cc033a34d5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05b51d1dee40c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f8262babe548a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baa6f6f34044c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9d5f3dfcf944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6014ce52a240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9B32B43-8C39-4716-91BB-F3AB6E43BC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C27BF40-BFE0-4BE5-843C-7ABD2766246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7C9A05B-7EF0-4109-888F-A921DD8EDB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EA6059B-0F6E-40E8-AA7E-3D0991765F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A0149BD-190A-42E2-BF22-4999D29DD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DB971D9-27F0-4DA0-A2C2-6915BFA53E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F15A6ED-C805-4CDC-9FE9-8C80920670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CDF0D0-FB21-44E4-A8F2-B0E4EC568B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11E864-2DEF-4519-BA00-F592BCB40D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53F6293-2E98-4FA3-8038-E8584F957A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ed8623701846c5" /><Relationship Type="http://schemas.openxmlformats.org/officeDocument/2006/relationships/slideLayout" Target="/ppt/slideLayouts/slideLayout1.xml" Id="Rdecfb848e58d426c" /><Relationship Type="http://schemas.openxmlformats.org/officeDocument/2006/relationships/slideLayout" Target="/ppt/slideLayouts/slideLayout2.xml" Id="R565dd447102b470d" /><Relationship Type="http://schemas.openxmlformats.org/officeDocument/2006/relationships/slideLayout" Target="/ppt/slideLayouts/slideLayout3.xml" Id="R85618a0c8b484680" /><Relationship Type="http://schemas.openxmlformats.org/officeDocument/2006/relationships/slideLayout" Target="/ppt/slideLayouts/slideLayout4.xml" Id="R1c2155958ba64fa2" /><Relationship Type="http://schemas.openxmlformats.org/officeDocument/2006/relationships/slideLayout" Target="/ppt/slideLayouts/slideLayout5.xml" Id="R47db83498214485b" /><Relationship Type="http://schemas.openxmlformats.org/officeDocument/2006/relationships/slideLayout" Target="/ppt/slideLayouts/slideLayout6.xml" Id="Rba8e04ab427c44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cfb848e58d426c"/>
    <p:sldLayoutId xmlns:r="http://schemas.openxmlformats.org/officeDocument/2006/relationships" id="2147483650" r:id="R565dd447102b470d"/>
    <p:sldLayoutId xmlns:r="http://schemas.openxmlformats.org/officeDocument/2006/relationships" id="2147483651" r:id="R85618a0c8b484680"/>
    <p:sldLayoutId xmlns:r="http://schemas.openxmlformats.org/officeDocument/2006/relationships" id="2147483652" r:id="R1c2155958ba64fa2"/>
    <p:sldLayoutId xmlns:r="http://schemas.openxmlformats.org/officeDocument/2006/relationships" id="2147483653" r:id="R47db83498214485b"/>
    <p:sldLayoutId xmlns:r="http://schemas.openxmlformats.org/officeDocument/2006/relationships" id="2147483654" r:id="Rba8e04ab427c44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7e91cdc14245f8" /><Relationship Type="http://schemas.openxmlformats.org/officeDocument/2006/relationships/notesSlide" Target="/ppt/notesSlides/notesSlide1.xml" Id="R64e8f4fe9dbe4e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e6e497213b4e16" /><Relationship Type="http://schemas.openxmlformats.org/officeDocument/2006/relationships/notesSlide" Target="/ppt/notesSlides/notesSlide2.xml" Id="R66f8f909684d4e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38d9c7abbd475f" /><Relationship Type="http://schemas.openxmlformats.org/officeDocument/2006/relationships/notesSlide" Target="/ppt/notesSlides/notesSlide3.xml" Id="R1d96b45f8c3248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01c1b823bd4946" /><Relationship Type="http://schemas.openxmlformats.org/officeDocument/2006/relationships/notesSlide" Target="/ppt/notesSlides/notesSlide4.xml" Id="R2de544f8955445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efa461fa574d56" /><Relationship Type="http://schemas.openxmlformats.org/officeDocument/2006/relationships/notesSlide" Target="/ppt/notesSlides/notesSlide5.xml" Id="R9e83f092bb1148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dfea9d531d4543" /><Relationship Type="http://schemas.openxmlformats.org/officeDocument/2006/relationships/notesSlide" Target="/ppt/notesSlides/notesSlide6.xml" Id="Ra709224872db4eb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86d7b7f09645a6" /><Relationship Type="http://schemas.openxmlformats.org/officeDocument/2006/relationships/notesSlide" Target="/ppt/notesSlides/notesSlide7.xml" Id="Rf2919f85a87149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97c3c9aee44811" /><Relationship Type="http://schemas.openxmlformats.org/officeDocument/2006/relationships/notesSlide" Target="/ppt/notesSlides/notesSlide8.xml" Id="R013c820876b841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90fe3c778c4c13" /><Relationship Type="http://schemas.openxmlformats.org/officeDocument/2006/relationships/notesSlide" Target="/ppt/notesSlides/notesSlide9.xml" Id="R8eb5d79b3dab43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ca9d910b9244d6" /><Relationship Type="http://schemas.openxmlformats.org/officeDocument/2006/relationships/notesSlide" Target="/ppt/notesSlides/notesSlide10.xml" Id="R037ae9e3760649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46f441b85b43f6" /><Relationship Type="http://schemas.openxmlformats.org/officeDocument/2006/relationships/notesSlide" Target="/ppt/notesSlides/notesSlide11.xml" Id="R2519416315bb48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40eb9efc01471a" /><Relationship Type="http://schemas.openxmlformats.org/officeDocument/2006/relationships/notesSlide" Target="/ppt/notesSlides/notesSlide12.xml" Id="Re65cabdfc3ae4b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7a437367a74eee" /><Relationship Type="http://schemas.openxmlformats.org/officeDocument/2006/relationships/notesSlide" Target="/ppt/notesSlides/notesSlide13.xml" Id="R4908e29e364a41f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9a785361a14c65" /><Relationship Type="http://schemas.openxmlformats.org/officeDocument/2006/relationships/notesSlide" Target="/ppt/notesSlides/notesSlide14.xml" Id="R01bcbd9058e04de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b0edf1fec5487d" /><Relationship Type="http://schemas.openxmlformats.org/officeDocument/2006/relationships/notesSlide" Target="/ppt/notesSlides/notesSlide15.xml" Id="R2e011bd88d69448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6935e035ca4e7c" /><Relationship Type="http://schemas.openxmlformats.org/officeDocument/2006/relationships/notesSlide" Target="/ppt/notesSlides/notesSlide16.xml" Id="Rbcf80798fbfa461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f5561e5ae546a0" /><Relationship Type="http://schemas.openxmlformats.org/officeDocument/2006/relationships/notesSlide" Target="/ppt/notesSlides/notesSlide17.xml" Id="R8c46b4c3653d490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295733dd604be2" /><Relationship Type="http://schemas.openxmlformats.org/officeDocument/2006/relationships/notesSlide" Target="/ppt/notesSlides/notesSlide18.xml" Id="R8ed37c2a62d340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0700E-120B-4975-B063-F33CF13D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2FA4F9-89D1-474B-ABDC-E6D453FB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PROJECT LIMEN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C1A1F-5FF1-4E4D-BA66-A39DC7B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F2F5F4"/>
                </a:solidFill>
              </a:defRPr>
            </a:defPPr>
            <a:lvl1pPr algn="l">
              <a:defRPr sz="3900" b="1">
                <a:solidFill>
                  <a:srgbClr val="F2F5F4"/>
                </a:solidFill>
              </a:defRPr>
            </a:lvl1pPr>
            <a:lvl2pPr algn="l">
              <a:defRPr sz="3900" b="1">
                <a:solidFill>
                  <a:srgbClr val="F2F5F4"/>
                </a:solidFill>
              </a:defRPr>
            </a:lvl2pPr>
            <a:lvl3pPr algn="l">
              <a:defRPr sz="3900" b="1">
                <a:solidFill>
                  <a:srgbClr val="F2F5F4"/>
                </a:solidFill>
              </a:defRPr>
            </a:lvl3pPr>
            <a:lvl4pPr algn="l">
              <a:defRPr sz="3900" b="1">
                <a:solidFill>
                  <a:srgbClr val="F2F5F4"/>
                </a:solidFill>
              </a:defRPr>
            </a:lvl4pPr>
            <a:lvl5pPr algn="l">
              <a:defRPr sz="3900" b="1">
                <a:solidFill>
                  <a:srgbClr val="F2F5F4"/>
                </a:solidFill>
              </a:defRPr>
            </a:lvl5pPr>
            <a:lvl6pPr algn="l">
              <a:defRPr sz="3900" b="1">
                <a:solidFill>
                  <a:srgbClr val="F2F5F4"/>
                </a:solidFill>
              </a:defRPr>
            </a:lvl6pPr>
            <a:lvl7pPr algn="l">
              <a:defRPr sz="3900" b="1">
                <a:solidFill>
                  <a:srgbClr val="F2F5F4"/>
                </a:solidFill>
              </a:defRPr>
            </a:lvl7pPr>
            <a:lvl8pPr algn="l">
              <a:defRPr sz="3900" b="1">
                <a:solidFill>
                  <a:srgbClr val="F2F5F4"/>
                </a:solidFill>
              </a:defRPr>
            </a:lvl8pPr>
            <a:lvl9pPr algn="l">
              <a:defRPr sz="39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F2F5F4"/>
                </a:solidFill>
              </a:defRPr>
            </a:pPr>
            <a:r>
              <a:rPr sz="3900" b="1">
                <a:solidFill>
                  <a:srgbClr val="F2F5F4"/>
                </a:solidFill>
              </a:rPr>
              <a:t>게임 기획 개요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66090-8805-43BD-9F53-67DEC9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A2AFAC"/>
                </a:solidFill>
              </a:defRPr>
            </a:defPPr>
            <a:lvl1pPr algn="l">
              <a:defRPr sz="1875" b="0">
                <a:solidFill>
                  <a:srgbClr val="A2AFAC"/>
                </a:solidFill>
              </a:defRPr>
            </a:lvl1pPr>
            <a:lvl2pPr algn="l">
              <a:defRPr sz="1875" b="0">
                <a:solidFill>
                  <a:srgbClr val="A2AFAC"/>
                </a:solidFill>
              </a:defRPr>
            </a:lvl2pPr>
            <a:lvl3pPr algn="l">
              <a:defRPr sz="1875" b="0">
                <a:solidFill>
                  <a:srgbClr val="A2AFAC"/>
                </a:solidFill>
              </a:defRPr>
            </a:lvl3pPr>
            <a:lvl4pPr algn="l">
              <a:defRPr sz="1875" b="0">
                <a:solidFill>
                  <a:srgbClr val="A2AFAC"/>
                </a:solidFill>
              </a:defRPr>
            </a:lvl4pPr>
            <a:lvl5pPr algn="l">
              <a:defRPr sz="1875" b="0">
                <a:solidFill>
                  <a:srgbClr val="A2AFAC"/>
                </a:solidFill>
              </a:defRPr>
            </a:lvl5pPr>
            <a:lvl6pPr algn="l">
              <a:defRPr sz="1875" b="0">
                <a:solidFill>
                  <a:srgbClr val="A2AFAC"/>
                </a:solidFill>
              </a:defRPr>
            </a:lvl6pPr>
            <a:lvl7pPr algn="l">
              <a:defRPr sz="1875" b="0">
                <a:solidFill>
                  <a:srgbClr val="A2AFAC"/>
                </a:solidFill>
              </a:defRPr>
            </a:lvl7pPr>
            <a:lvl8pPr algn="l">
              <a:defRPr sz="1875" b="0">
                <a:solidFill>
                  <a:srgbClr val="A2AFAC"/>
                </a:solidFill>
              </a:defRPr>
            </a:lvl8pPr>
            <a:lvl9pPr algn="l">
              <a:defRPr sz="18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A2AFAC"/>
                </a:solidFill>
              </a:defRPr>
            </a:pPr>
            <a:r>
              <a:rPr sz="1875" b="0">
                <a:solidFill>
                  <a:srgbClr val="A2AFAC"/>
                </a:solidFill>
              </a:rPr>
              <a:t>공동 이상구역과 특수 탐사를 잇는 비동기 익스트랙션 RPG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4AD34-4D59-49E0-A46A-4933FCA4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457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76534A-D669-454A-B750-AE2B3B78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7429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2F5F4"/>
                </a:solidFill>
              </a:defRPr>
            </a:defPPr>
            <a:lvl1pPr algn="l">
              <a:defRPr sz="1725" b="0">
                <a:solidFill>
                  <a:srgbClr val="F2F5F4"/>
                </a:solidFill>
              </a:defRPr>
            </a:lvl1pPr>
            <a:lvl2pPr algn="l">
              <a:defRPr sz="1725" b="0">
                <a:solidFill>
                  <a:srgbClr val="F2F5F4"/>
                </a:solidFill>
              </a:defRPr>
            </a:lvl2pPr>
            <a:lvl3pPr algn="l">
              <a:defRPr sz="1725" b="0">
                <a:solidFill>
                  <a:srgbClr val="F2F5F4"/>
                </a:solidFill>
              </a:defRPr>
            </a:lvl3pPr>
            <a:lvl4pPr algn="l">
              <a:defRPr sz="1725" b="0">
                <a:solidFill>
                  <a:srgbClr val="F2F5F4"/>
                </a:solidFill>
              </a:defRPr>
            </a:lvl4pPr>
            <a:lvl5pPr algn="l">
              <a:defRPr sz="1725" b="0">
                <a:solidFill>
                  <a:srgbClr val="F2F5F4"/>
                </a:solidFill>
              </a:defRPr>
            </a:lvl5pPr>
            <a:lvl6pPr algn="l">
              <a:defRPr sz="1725" b="0">
                <a:solidFill>
                  <a:srgbClr val="F2F5F4"/>
                </a:solidFill>
              </a:defRPr>
            </a:lvl6pPr>
            <a:lvl7pPr algn="l">
              <a:defRPr sz="1725" b="0">
                <a:solidFill>
                  <a:srgbClr val="F2F5F4"/>
                </a:solidFill>
              </a:defRPr>
            </a:lvl7pPr>
            <a:lvl8pPr algn="l">
              <a:defRPr sz="1725" b="0">
                <a:solidFill>
                  <a:srgbClr val="F2F5F4"/>
                </a:solidFill>
              </a:defRPr>
            </a:lvl8pPr>
            <a:lvl9pPr algn="l">
              <a:defRPr sz="172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2F5F4"/>
                </a:solidFill>
              </a:defRPr>
            </a:pPr>
            <a:r>
              <a:rPr sz="1725" b="0">
                <a:solidFill>
                  <a:srgbClr val="F2F5F4"/>
                </a:solidFill>
              </a:rPr>
              <a:t>기묘한 공간에 자캐 탐사대를 보내고</a:t>
            </a:r>
          </a:p>
          <a:p xmlns:a="http://schemas.openxmlformats.org/drawingml/2006/main">
            <a:pPr algn="l">
              <a:defRPr sz="1725" b="0">
                <a:solidFill>
                  <a:srgbClr val="F2F5F4"/>
                </a:solidFill>
              </a:defRPr>
            </a:pPr>
            <a:r>
              <a:rPr sz="1725" b="0">
                <a:solidFill>
                  <a:srgbClr val="F2F5F4"/>
                </a:solidFill>
              </a:rPr>
              <a:t>관계와 전리품을 안고 살아 돌아오는 게임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D091D-58B9-4CF8-99D2-B72EE396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2AFAC"/>
                </a:solidFill>
              </a:defRPr>
            </a:defPPr>
            <a:lvl1pPr algn="l">
              <a:defRPr sz="1050" b="0">
                <a:solidFill>
                  <a:srgbClr val="A2AFAC"/>
                </a:solidFill>
              </a:defRPr>
            </a:lvl1pPr>
            <a:lvl2pPr algn="l">
              <a:defRPr sz="1050" b="0">
                <a:solidFill>
                  <a:srgbClr val="A2AFAC"/>
                </a:solidFill>
              </a:defRPr>
            </a:lvl2pPr>
            <a:lvl3pPr algn="l">
              <a:defRPr sz="1050" b="0">
                <a:solidFill>
                  <a:srgbClr val="A2AFAC"/>
                </a:solidFill>
              </a:defRPr>
            </a:lvl3pPr>
            <a:lvl4pPr algn="l">
              <a:defRPr sz="1050" b="0">
                <a:solidFill>
                  <a:srgbClr val="A2AFAC"/>
                </a:solidFill>
              </a:defRPr>
            </a:lvl4pPr>
            <a:lvl5pPr algn="l">
              <a:defRPr sz="1050" b="0">
                <a:solidFill>
                  <a:srgbClr val="A2AFAC"/>
                </a:solidFill>
              </a:defRPr>
            </a:lvl5pPr>
            <a:lvl6pPr algn="l">
              <a:defRPr sz="1050" b="0">
                <a:solidFill>
                  <a:srgbClr val="A2AFAC"/>
                </a:solidFill>
              </a:defRPr>
            </a:lvl6pPr>
            <a:lvl7pPr algn="l">
              <a:defRPr sz="1050" b="0">
                <a:solidFill>
                  <a:srgbClr val="A2AFAC"/>
                </a:solidFill>
              </a:defRPr>
            </a:lvl7pPr>
            <a:lvl8pPr algn="l">
              <a:defRPr sz="1050" b="0">
                <a:solidFill>
                  <a:srgbClr val="A2AFAC"/>
                </a:solidFill>
              </a:defRPr>
            </a:lvl8pPr>
            <a:lvl9pPr algn="l">
              <a:defRPr sz="10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2AFAC"/>
                </a:solidFill>
              </a:defRPr>
            </a:pPr>
            <a:r>
              <a:rPr sz="1050" b="0">
                <a:solidFill>
                  <a:srgbClr val="A2AFAC"/>
                </a:solidFill>
              </a:rPr>
              <a:t>기획 기준 2026.10.24</a:t>
            </a:r>
          </a:p>
        </p:txBody>
      </p:sp>
    </p:spTree>
    <p:extLst>
      <p:ext uri="{BB962C8B-B14F-4D97-AF65-F5344CB8AC3E}">
        <p14:creationId xmlns:p14="http://schemas.microsoft.com/office/powerpoint/2010/main" val="1208922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581D9B-3426-4D22-9B6A-FB3D0D20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8EFD3-273F-48AD-A78B-CF6309FA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F567BD-489E-4AFD-8EC8-D76F76F2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목차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02402-CFEF-4A82-921A-AEF96543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507A9-29E2-4508-BAAF-8CF4859F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5FF537-9AC3-4296-B01C-8A93A103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35885D-C448-498A-B469-0CCDEBE6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66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게임 정체성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FC7017-5A1E-4BAC-ABF4-67DCE1F3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668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세계관과 코어 재미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F1213B-1EE7-408B-A50A-7F7E82DD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88C36-8E45-4527-B633-3BF9E09A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C74964-0B67-4808-A058-46B7200F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098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탐사 구조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9D36FB-95AB-4E45-B175-DA6F472C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09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플레이 루프와 깊이 선택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B416F-105D-43FD-A5A1-ED9BCAC6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08BC2-18CF-4176-9E4B-146C1F05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501366-0DD2-42F7-A782-6E51F5DC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52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캐릭터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76127-F025-43B4-B243-9E317C31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527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10개 능력치와 성격 5개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936714-D0CF-4802-8F5F-FFF7B32F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E7E7E9-0D12-4620-B7BD-64C328E0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14DB11-08D6-4CEA-83FF-DEAB3CBA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957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자동 서사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F873FB-7616-4146-8B44-5F5680AB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957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행동 경향과 관계 사건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EA0BB1-CBD1-4F94-8CE5-4C167975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516538-9C98-4D56-A666-65151ED3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386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FD4FAF-682E-41B0-BBD7-C21F2F04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수확과 손실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36A58B-D960-4766-BF6B-D646A2BC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386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무기·아이템·정보·사망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DB74E7-7B28-4C71-BB1E-1037891C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91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3F1953-0BD5-4755-A000-568BEC27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816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DA19CC-021D-4B61-AAB9-641322F4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816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후속 결정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33F7C3-424C-4162-9460-AB92F260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816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밸런스와 구현 쟁점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30C3F0-6BA6-424F-B3DE-EA2FACDA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92376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75AACD-B8C6-4C33-A67F-A5146007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272E6-4F27-4FBD-A4FC-350BC1D7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GAME DEFINITION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C4F76-9BB5-4CBA-B72D-AB544D71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게임 정체성과 코어 재미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BD2F14-FF75-4ED5-8091-7FEA0562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9C4C6-D1EB-4F5A-A238-AD57A55E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AA8E0-5082-436D-A317-DF187C58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F2F5F4"/>
                </a:solidFill>
              </a:defRPr>
            </a:defPPr>
            <a:lvl1pPr algn="l">
              <a:defRPr sz="2175" b="1">
                <a:solidFill>
                  <a:srgbClr val="F2F5F4"/>
                </a:solidFill>
              </a:defRPr>
            </a:lvl1pPr>
            <a:lvl2pPr algn="l">
              <a:defRPr sz="2175" b="1">
                <a:solidFill>
                  <a:srgbClr val="F2F5F4"/>
                </a:solidFill>
              </a:defRPr>
            </a:lvl2pPr>
            <a:lvl3pPr algn="l">
              <a:defRPr sz="2175" b="1">
                <a:solidFill>
                  <a:srgbClr val="F2F5F4"/>
                </a:solidFill>
              </a:defRPr>
            </a:lvl3pPr>
            <a:lvl4pPr algn="l">
              <a:defRPr sz="2175" b="1">
                <a:solidFill>
                  <a:srgbClr val="F2F5F4"/>
                </a:solidFill>
              </a:defRPr>
            </a:lvl4pPr>
            <a:lvl5pPr algn="l">
              <a:defRPr sz="2175" b="1">
                <a:solidFill>
                  <a:srgbClr val="F2F5F4"/>
                </a:solidFill>
              </a:defRPr>
            </a:lvl5pPr>
            <a:lvl6pPr algn="l">
              <a:defRPr sz="2175" b="1">
                <a:solidFill>
                  <a:srgbClr val="F2F5F4"/>
                </a:solidFill>
              </a:defRPr>
            </a:lvl6pPr>
            <a:lvl7pPr algn="l">
              <a:defRPr sz="2175" b="1">
                <a:solidFill>
                  <a:srgbClr val="F2F5F4"/>
                </a:solidFill>
              </a:defRPr>
            </a:lvl7pPr>
            <a:lvl8pPr algn="l">
              <a:defRPr sz="2175" b="1">
                <a:solidFill>
                  <a:srgbClr val="F2F5F4"/>
                </a:solidFill>
              </a:defRPr>
            </a:lvl8pPr>
            <a:lvl9pPr algn="l">
              <a:defRPr sz="21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2F5F4"/>
                </a:solidFill>
              </a:defRPr>
            </a:pPr>
            <a:r>
              <a:rPr sz="2175" b="1">
                <a:solidFill>
                  <a:srgbClr val="F2F5F4"/>
                </a:solidFill>
              </a:rPr>
              <a:t>1~2인으로 공동 이상구역을 누비고</a:t>
            </a:r>
          </a:p>
          <a:p xmlns:a="http://schemas.openxmlformats.org/drawingml/2006/main">
            <a:pPr algn="l">
              <a:defRPr sz="2175" b="1">
                <a:solidFill>
                  <a:srgbClr val="F2F5F4"/>
                </a:solidFill>
              </a:defRPr>
            </a:pPr>
            <a:r>
              <a:rPr sz="2175" b="1">
                <a:solidFill>
                  <a:srgbClr val="F2F5F4"/>
                </a:solidFill>
              </a:rPr>
              <a:t>4~5인 특수 탐사에서 결정적 사건을 해결하는 게임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52F2CB-B343-41EF-AE17-8F5A91F3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발견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74352-105D-45EF-9708-355CB0BA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6230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공간마다 다른 규칙과 희귀 물품을 찾는다.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11700-F5C8-4B3C-803C-CAA002C1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838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0C8C4-2A35-4F4F-AE6F-E1C27E4F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6230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현재 성과를 지키고 철수할지 더 깊이 전진할지 고른다.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A42925-FC84-40BD-B98B-9A503F70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38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관계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E4EEB-1D1D-4893-AE90-C023A4A3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6230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방치된 시간에도 성격과 관계가 사건을 만들고 기록에 남는다.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11FF69-88EE-426D-A494-ED8DCAB4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9C5F40-D2F8-4B3F-8437-8EA8B4F4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38D6C4"/>
                </a:solidFill>
              </a:defRPr>
            </a:defPPr>
            <a:lvl1pPr algn="ctr">
              <a:defRPr sz="2100" b="1">
                <a:solidFill>
                  <a:srgbClr val="38D6C4"/>
                </a:solidFill>
              </a:defRPr>
            </a:lvl1pPr>
            <a:lvl2pPr algn="ctr">
              <a:defRPr sz="2100" b="1">
                <a:solidFill>
                  <a:srgbClr val="38D6C4"/>
                </a:solidFill>
              </a:defRPr>
            </a:lvl2pPr>
            <a:lvl3pPr algn="ctr">
              <a:defRPr sz="2100" b="1">
                <a:solidFill>
                  <a:srgbClr val="38D6C4"/>
                </a:solidFill>
              </a:defRPr>
            </a:lvl3pPr>
            <a:lvl4pPr algn="ctr">
              <a:defRPr sz="2100" b="1">
                <a:solidFill>
                  <a:srgbClr val="38D6C4"/>
                </a:solidFill>
              </a:defRPr>
            </a:lvl4pPr>
            <a:lvl5pPr algn="ctr">
              <a:defRPr sz="2100" b="1">
                <a:solidFill>
                  <a:srgbClr val="38D6C4"/>
                </a:solidFill>
              </a:defRPr>
            </a:lvl5pPr>
            <a:lvl6pPr algn="ctr">
              <a:defRPr sz="2100" b="1">
                <a:solidFill>
                  <a:srgbClr val="38D6C4"/>
                </a:solidFill>
              </a:defRPr>
            </a:lvl6pPr>
            <a:lvl7pPr algn="ctr">
              <a:defRPr sz="2100" b="1">
                <a:solidFill>
                  <a:srgbClr val="38D6C4"/>
                </a:solidFill>
              </a:defRPr>
            </a:lvl7pPr>
            <a:lvl8pPr algn="ctr">
              <a:defRPr sz="2100" b="1">
                <a:solidFill>
                  <a:srgbClr val="38D6C4"/>
                </a:solidFill>
              </a:defRPr>
            </a:lvl8pPr>
            <a:lvl9pPr algn="ctr">
              <a:defRPr sz="21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38D6C4"/>
                </a:solidFill>
              </a:defRPr>
            </a:pPr>
            <a:r>
              <a:rPr sz="2100" b="1">
                <a:solidFill>
                  <a:srgbClr val="38D6C4"/>
                </a:solidFill>
              </a:rPr>
              <a:t>귀환하기 전까지 현장의 수확물은 확정되지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422945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01271-C50B-48B6-83BB-552051F1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BD8A8-5723-490B-8F4D-B2275B11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WORLD &amp; PLAYER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C7202-E92E-401E-9821-6FF1585B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플레이어와 세계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E7D98B-867F-4555-98A5-49BEFFD0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86F9B-B3DA-4283-8EFB-3050F651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B2ED23-C2E9-4490-9DAE-D7F7005F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플레이어의 위치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37BB97-C11A-4E4B-8B77-1E78ED42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유저는 탐사대원 본인이면서 장비·철수 기준·자동 행동 방침을 정하는 관찰자다.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E208B1-B8A0-4F2E-BD4F-069AB8B9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기묘한 공간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5F18B-7451-46BE-B47B-7CBE7254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공간은 여러 깊이 단계로 구성된다. 깊어질수록 규칙이 복잡해지고 보상과 손실 위험이 함께 커진다.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08C08-577E-4B43-96D9-5956B80B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이상 에너지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727E96-0DB1-47D7-80C0-D8113544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9975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치료·수리·제작·탐사 준비에 쓰는 안정적인 순환 자원이다.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66325-A57E-46DF-B09D-63F51D38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이상 물품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79689D-7129-427A-9B10-CBFE1640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09975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고유 규칙과 부작용을 가진다. 판매·연구·장착·격리·선물 중 처분 방식을 고른다.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75CC45-B26D-4D8C-A6FA-3E70FECD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A2AFAC"/>
                </a:solidFill>
              </a:defRPr>
            </a:defPPr>
            <a:lvl1pPr algn="ctr">
              <a:defRPr sz="1575" b="1">
                <a:solidFill>
                  <a:srgbClr val="A2AFAC"/>
                </a:solidFill>
              </a:defRPr>
            </a:lvl1pPr>
            <a:lvl2pPr algn="ctr">
              <a:defRPr sz="1575" b="1">
                <a:solidFill>
                  <a:srgbClr val="A2AFAC"/>
                </a:solidFill>
              </a:defRPr>
            </a:lvl2pPr>
            <a:lvl3pPr algn="ctr">
              <a:defRPr sz="1575" b="1">
                <a:solidFill>
                  <a:srgbClr val="A2AFAC"/>
                </a:solidFill>
              </a:defRPr>
            </a:lvl3pPr>
            <a:lvl4pPr algn="ctr">
              <a:defRPr sz="1575" b="1">
                <a:solidFill>
                  <a:srgbClr val="A2AFAC"/>
                </a:solidFill>
              </a:defRPr>
            </a:lvl4pPr>
            <a:lvl5pPr algn="ctr">
              <a:defRPr sz="1575" b="1">
                <a:solidFill>
                  <a:srgbClr val="A2AFAC"/>
                </a:solidFill>
              </a:defRPr>
            </a:lvl5pPr>
            <a:lvl6pPr algn="ctr">
              <a:defRPr sz="1575" b="1">
                <a:solidFill>
                  <a:srgbClr val="A2AFAC"/>
                </a:solidFill>
              </a:defRPr>
            </a:lvl6pPr>
            <a:lvl7pPr algn="ctr">
              <a:defRPr sz="1575" b="1">
                <a:solidFill>
                  <a:srgbClr val="A2AFAC"/>
                </a:solidFill>
              </a:defRPr>
            </a:lvl7pPr>
            <a:lvl8pPr algn="ctr">
              <a:defRPr sz="1575" b="1">
                <a:solidFill>
                  <a:srgbClr val="A2AFAC"/>
                </a:solidFill>
              </a:defRPr>
            </a:lvl8pPr>
            <a:lvl9pPr algn="ctr">
              <a:defRPr sz="1575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A2AFAC"/>
                </a:solidFill>
              </a:defRPr>
            </a:pPr>
            <a:r>
              <a:rPr sz="1575" b="1">
                <a:solidFill>
                  <a:srgbClr val="A2AFAC"/>
                </a:solidFill>
              </a:rPr>
              <a:t>장비와 정보만큼 캐릭터 사이의 관계와 공동 기억도 장기 성장에 포함한다.</a:t>
            </a:r>
          </a:p>
        </p:txBody>
      </p:sp>
    </p:spTree>
    <p:extLst>
      <p:ext uri="{BB962C8B-B14F-4D97-AF65-F5344CB8AC3E}">
        <p14:creationId xmlns:p14="http://schemas.microsoft.com/office/powerpoint/2010/main" val="13568943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FF70B7-C070-4BA3-9AB1-1702229D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8A7D73-AA27-47F6-874A-9C396780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CORE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C5C53-6470-4138-BA1C-773882AB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플레이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7F3A4-37E6-48DC-BD1E-497C5463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33532-3866-4A29-BA9F-C9CC6A5B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CF4FD-EB51-4CB9-A1C0-EAD8FCBC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4A05D-A384-4353-A1E2-917F2C87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335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A6D61-8C1B-40AF-A5C0-3EA9BD8E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33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공동구역 진입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04B030-88C3-4E77-A009-C25D70C7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1~2인, 장비와 방침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CD4A88-2D44-42CB-B20F-738A616E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6210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3DDAE2-A9D4-4D5D-A367-8C01D4AD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335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F2C68-F146-4404-AB7C-F321F05C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33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자동 탐사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A5F2DF-31A3-4316-93EB-89E1C5BA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흔적·조우·사건 누적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24F3FD-81AF-44CC-A927-893470E5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6210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A7B2F4-19A0-4017-ABDB-830D0436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335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6E7103-D8C2-4A4E-94EA-46A51C34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33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귀환 정산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32961-C7E2-4497-8B72-6275D27A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회수품과 손실 확정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3BDCC9-D0B5-473B-966F-847B6D05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47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D7AB25-E544-4E44-9ED7-8592FAE7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73EDAD-5E86-45E2-BD5A-77B2966C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861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조건 발견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A2DDCE-4F45-4B65-A898-8F74738F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정보·자원·인맥 확보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6FDD6E-3CA2-4C29-8844-062EA325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147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106080-E019-4A46-A7FB-2CE0B151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861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1E16D7-F50A-4BBD-BA1E-7AC4B347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861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특수 탐사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B88F85-E606-4FF7-AB71-83D957F0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00525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4~5인이 역할 분담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7557BE-C3F3-4EA5-93DE-F383B77F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147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0C4B79-02E7-4AE6-AE82-3BF7DEF1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861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67CF10-0F2A-4350-97EB-0B507CC6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861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월드 변화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24240C-1861-4828-B880-469BFD51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00525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이동로·위험·자원 갱신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790068-20A1-47D6-A321-481EB39F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7375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38D6C4"/>
                </a:solidFill>
              </a:defRPr>
            </a:defPPr>
            <a:lvl1pPr algn="ctr">
              <a:defRPr sz="1425" b="1">
                <a:solidFill>
                  <a:srgbClr val="38D6C4"/>
                </a:solidFill>
              </a:defRPr>
            </a:lvl1pPr>
            <a:lvl2pPr algn="ctr">
              <a:defRPr sz="1425" b="1">
                <a:solidFill>
                  <a:srgbClr val="38D6C4"/>
                </a:solidFill>
              </a:defRPr>
            </a:lvl2pPr>
            <a:lvl3pPr algn="ctr">
              <a:defRPr sz="1425" b="1">
                <a:solidFill>
                  <a:srgbClr val="38D6C4"/>
                </a:solidFill>
              </a:defRPr>
            </a:lvl3pPr>
            <a:lvl4pPr algn="ctr">
              <a:defRPr sz="1425" b="1">
                <a:solidFill>
                  <a:srgbClr val="38D6C4"/>
                </a:solidFill>
              </a:defRPr>
            </a:lvl4pPr>
            <a:lvl5pPr algn="ctr">
              <a:defRPr sz="1425" b="1">
                <a:solidFill>
                  <a:srgbClr val="38D6C4"/>
                </a:solidFill>
              </a:defRPr>
            </a:lvl5pPr>
            <a:lvl6pPr algn="ctr">
              <a:defRPr sz="1425" b="1">
                <a:solidFill>
                  <a:srgbClr val="38D6C4"/>
                </a:solidFill>
              </a:defRPr>
            </a:lvl6pPr>
            <a:lvl7pPr algn="ctr">
              <a:defRPr sz="1425" b="1">
                <a:solidFill>
                  <a:srgbClr val="38D6C4"/>
                </a:solidFill>
              </a:defRPr>
            </a:lvl7pPr>
            <a:lvl8pPr algn="ctr">
              <a:defRPr sz="1425" b="1">
                <a:solidFill>
                  <a:srgbClr val="38D6C4"/>
                </a:solidFill>
              </a:defRPr>
            </a:lvl8pPr>
            <a:lvl9pPr algn="ctr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다음 탐사의 욕망은 더 좋은 전리품, 더 깊은 공간, 이어지는 관계사에서 나온다.</a:t>
            </a:r>
          </a:p>
        </p:txBody>
      </p:sp>
    </p:spTree>
    <p:extLst>
      <p:ext uri="{BB962C8B-B14F-4D97-AF65-F5344CB8AC3E}">
        <p14:creationId xmlns:p14="http://schemas.microsoft.com/office/powerpoint/2010/main" val="11342933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11F2F5-B605-4C8E-AEB8-E4E2B23D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D6730-3324-4F22-B9F1-FFA2CE15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EXPEDITION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A784E6-67D7-4915-ABE1-2335FFD5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두 가지 탐사 구조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59071-9E2F-44AE-8C2B-0276A51F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2ADCF-C2CB-4572-9F8C-28192059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67C2A8-05B3-422A-BC6C-AEA5B4CC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38D6C4"/>
                </a:solidFill>
              </a:defRPr>
            </a:defPPr>
            <a:lvl1pPr algn="l">
              <a:defRPr sz="1875" b="1">
                <a:solidFill>
                  <a:srgbClr val="38D6C4"/>
                </a:solidFill>
              </a:defRPr>
            </a:lvl1pPr>
            <a:lvl2pPr algn="l">
              <a:defRPr sz="1875" b="1">
                <a:solidFill>
                  <a:srgbClr val="38D6C4"/>
                </a:solidFill>
              </a:defRPr>
            </a:lvl2pPr>
            <a:lvl3pPr algn="l">
              <a:defRPr sz="1875" b="1">
                <a:solidFill>
                  <a:srgbClr val="38D6C4"/>
                </a:solidFill>
              </a:defRPr>
            </a:lvl3pPr>
            <a:lvl4pPr algn="l">
              <a:defRPr sz="1875" b="1">
                <a:solidFill>
                  <a:srgbClr val="38D6C4"/>
                </a:solidFill>
              </a:defRPr>
            </a:lvl4pPr>
            <a:lvl5pPr algn="l">
              <a:defRPr sz="1875" b="1">
                <a:solidFill>
                  <a:srgbClr val="38D6C4"/>
                </a:solidFill>
              </a:defRPr>
            </a:lvl5pPr>
            <a:lvl6pPr algn="l">
              <a:defRPr sz="1875" b="1">
                <a:solidFill>
                  <a:srgbClr val="38D6C4"/>
                </a:solidFill>
              </a:defRPr>
            </a:lvl6pPr>
            <a:lvl7pPr algn="l">
              <a:defRPr sz="1875" b="1">
                <a:solidFill>
                  <a:srgbClr val="38D6C4"/>
                </a:solidFill>
              </a:defRPr>
            </a:lvl7pPr>
            <a:lvl8pPr algn="l">
              <a:defRPr sz="1875" b="1">
                <a:solidFill>
                  <a:srgbClr val="38D6C4"/>
                </a:solidFill>
              </a:defRPr>
            </a:lvl8pPr>
            <a:lvl9pPr algn="l">
              <a:defRPr sz="18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8D6C4"/>
                </a:solidFill>
              </a:defRPr>
            </a:pPr>
            <a:r>
              <a:rPr sz="1875" b="1">
                <a:solidFill>
                  <a:srgbClr val="38D6C4"/>
                </a:solidFill>
              </a:rPr>
              <a:t>공동 이상구역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791C58-28A0-45F7-96F1-14B71240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일상적인 메인 콘텐츠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212384-0322-413F-B7E2-F8C54BCE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4762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A2AFAC"/>
                </a:solidFill>
              </a:defRPr>
            </a:defPPr>
            <a:lvl1pPr algn="l">
              <a:defRPr sz="1425" b="0">
                <a:solidFill>
                  <a:srgbClr val="A2AFAC"/>
                </a:solidFill>
              </a:defRPr>
            </a:lvl1pPr>
            <a:lvl2pPr algn="l">
              <a:defRPr sz="1425" b="0">
                <a:solidFill>
                  <a:srgbClr val="A2AFAC"/>
                </a:solidFill>
              </a:defRPr>
            </a:lvl2pPr>
            <a:lvl3pPr algn="l">
              <a:defRPr sz="1425" b="0">
                <a:solidFill>
                  <a:srgbClr val="A2AFAC"/>
                </a:solidFill>
              </a:defRPr>
            </a:lvl3pPr>
            <a:lvl4pPr algn="l">
              <a:defRPr sz="1425" b="0">
                <a:solidFill>
                  <a:srgbClr val="A2AFAC"/>
                </a:solidFill>
              </a:defRPr>
            </a:lvl4pPr>
            <a:lvl5pPr algn="l">
              <a:defRPr sz="1425" b="0">
                <a:solidFill>
                  <a:srgbClr val="A2AFAC"/>
                </a:solidFill>
              </a:defRPr>
            </a:lvl5pPr>
            <a:lvl6pPr algn="l">
              <a:defRPr sz="1425" b="0">
                <a:solidFill>
                  <a:srgbClr val="A2AFAC"/>
                </a:solidFill>
              </a:defRPr>
            </a:lvl6pPr>
            <a:lvl7pPr algn="l">
              <a:defRPr sz="1425" b="0">
                <a:solidFill>
                  <a:srgbClr val="A2AFAC"/>
                </a:solidFill>
              </a:defRPr>
            </a:lvl7pPr>
            <a:lvl8pPr algn="l">
              <a:defRPr sz="1425" b="0">
                <a:solidFill>
                  <a:srgbClr val="A2AFAC"/>
                </a:solidFill>
              </a:defRPr>
            </a:lvl8pPr>
            <a:lvl9pPr algn="l">
              <a:defRPr sz="142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2AFAC"/>
                </a:solidFill>
              </a:defRPr>
            </a:pPr>
            <a:r>
              <a:rPr sz="1425" b="0">
                <a:solidFill>
                  <a:srgbClr val="A2AFAC"/>
                </a:solidFill>
              </a:rPr>
              <a:t>1인 또는 2인이 자유롭게 진입하고 이탈한다.</a:t>
            </a:r>
          </a:p>
          <a:p xmlns:a="http://schemas.openxmlformats.org/drawingml/2006/main">
            <a:pPr algn="l">
              <a:defRPr sz="1425" b="0">
                <a:solidFill>
                  <a:srgbClr val="A2AFAC"/>
                </a:solidFill>
              </a:defRPr>
            </a:pPr>
            <a:r>
              <a:rPr sz="1425" b="0">
                <a:solidFill>
                  <a:srgbClr val="A2AFAC"/>
                </a:solidFill>
              </a:rPr>
              <a:t>여러 탐사 단위가 같은 장기 인스턴스를 공유하며</a:t>
            </a:r>
          </a:p>
          <a:p xmlns:a="http://schemas.openxmlformats.org/drawingml/2006/main">
            <a:pPr algn="l">
              <a:defRPr sz="1425" b="0">
                <a:solidFill>
                  <a:srgbClr val="A2AFAC"/>
                </a:solidFill>
              </a:defRPr>
            </a:pPr>
            <a:r>
              <a:rPr sz="1425" b="0">
                <a:solidFill>
                  <a:srgbClr val="A2AFAC"/>
                </a:solidFill>
              </a:rPr>
              <a:t>흔적, 구조 신호와 우연한 조우를 경험한다.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D3061C-FD54-40A4-898E-E2F36E6C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은폐 · 자유로운 일정 · 유동적 관계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5A869-3192-42B4-B056-84DAE8DB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287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19FD98-1B60-43ED-A35E-74E711C1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E9C46A"/>
                </a:solidFill>
              </a:defRPr>
            </a:defPPr>
            <a:lvl1pPr algn="l">
              <a:defRPr sz="1875" b="1">
                <a:solidFill>
                  <a:srgbClr val="E9C46A"/>
                </a:solidFill>
              </a:defRPr>
            </a:lvl1pPr>
            <a:lvl2pPr algn="l">
              <a:defRPr sz="1875" b="1">
                <a:solidFill>
                  <a:srgbClr val="E9C46A"/>
                </a:solidFill>
              </a:defRPr>
            </a:lvl2pPr>
            <a:lvl3pPr algn="l">
              <a:defRPr sz="1875" b="1">
                <a:solidFill>
                  <a:srgbClr val="E9C46A"/>
                </a:solidFill>
              </a:defRPr>
            </a:lvl3pPr>
            <a:lvl4pPr algn="l">
              <a:defRPr sz="1875" b="1">
                <a:solidFill>
                  <a:srgbClr val="E9C46A"/>
                </a:solidFill>
              </a:defRPr>
            </a:lvl4pPr>
            <a:lvl5pPr algn="l">
              <a:defRPr sz="1875" b="1">
                <a:solidFill>
                  <a:srgbClr val="E9C46A"/>
                </a:solidFill>
              </a:defRPr>
            </a:lvl5pPr>
            <a:lvl6pPr algn="l">
              <a:defRPr sz="1875" b="1">
                <a:solidFill>
                  <a:srgbClr val="E9C46A"/>
                </a:solidFill>
              </a:defRPr>
            </a:lvl6pPr>
            <a:lvl7pPr algn="l">
              <a:defRPr sz="1875" b="1">
                <a:solidFill>
                  <a:srgbClr val="E9C46A"/>
                </a:solidFill>
              </a:defRPr>
            </a:lvl7pPr>
            <a:lvl8pPr algn="l">
              <a:defRPr sz="1875" b="1">
                <a:solidFill>
                  <a:srgbClr val="E9C46A"/>
                </a:solidFill>
              </a:defRPr>
            </a:lvl8pPr>
            <a:lvl9pPr algn="l">
              <a:defRPr sz="1875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E9C46A"/>
                </a:solidFill>
              </a:defRPr>
            </a:pPr>
            <a:r>
              <a:rPr sz="1875" b="1">
                <a:solidFill>
                  <a:srgbClr val="E9C46A"/>
                </a:solidFill>
              </a:rPr>
              <a:t>특수 탐사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0C265-9783-467F-8C73-B21372E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결정적 사건을 해결하는 편성 콘텐츠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F729E1-3F46-480D-B135-CC40E8BF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19350"/>
            <a:ext cx="4762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A2AFAC"/>
                </a:solidFill>
              </a:defRPr>
            </a:defPPr>
            <a:lvl1pPr algn="l">
              <a:defRPr sz="1425" b="0">
                <a:solidFill>
                  <a:srgbClr val="A2AFAC"/>
                </a:solidFill>
              </a:defRPr>
            </a:lvl1pPr>
            <a:lvl2pPr algn="l">
              <a:defRPr sz="1425" b="0">
                <a:solidFill>
                  <a:srgbClr val="A2AFAC"/>
                </a:solidFill>
              </a:defRPr>
            </a:lvl2pPr>
            <a:lvl3pPr algn="l">
              <a:defRPr sz="1425" b="0">
                <a:solidFill>
                  <a:srgbClr val="A2AFAC"/>
                </a:solidFill>
              </a:defRPr>
            </a:lvl3pPr>
            <a:lvl4pPr algn="l">
              <a:defRPr sz="1425" b="0">
                <a:solidFill>
                  <a:srgbClr val="A2AFAC"/>
                </a:solidFill>
              </a:defRPr>
            </a:lvl4pPr>
            <a:lvl5pPr algn="l">
              <a:defRPr sz="1425" b="0">
                <a:solidFill>
                  <a:srgbClr val="A2AFAC"/>
                </a:solidFill>
              </a:defRPr>
            </a:lvl5pPr>
            <a:lvl6pPr algn="l">
              <a:defRPr sz="1425" b="0">
                <a:solidFill>
                  <a:srgbClr val="A2AFAC"/>
                </a:solidFill>
              </a:defRPr>
            </a:lvl6pPr>
            <a:lvl7pPr algn="l">
              <a:defRPr sz="1425" b="0">
                <a:solidFill>
                  <a:srgbClr val="A2AFAC"/>
                </a:solidFill>
              </a:defRPr>
            </a:lvl7pPr>
            <a:lvl8pPr algn="l">
              <a:defRPr sz="1425" b="0">
                <a:solidFill>
                  <a:srgbClr val="A2AFAC"/>
                </a:solidFill>
              </a:defRPr>
            </a:lvl8pPr>
            <a:lvl9pPr algn="l">
              <a:defRPr sz="142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2AFAC"/>
                </a:solidFill>
              </a:defRPr>
            </a:pPr>
            <a:r>
              <a:rPr sz="1425" b="0">
                <a:solidFill>
                  <a:srgbClr val="A2AFAC"/>
                </a:solidFill>
              </a:rPr>
              <a:t>4~5명이 사전에 모집되어 함께 출발한다.</a:t>
            </a:r>
          </a:p>
          <a:p xmlns:a="http://schemas.openxmlformats.org/drawingml/2006/main">
            <a:pPr algn="l">
              <a:defRPr sz="1425" b="0">
                <a:solidFill>
                  <a:srgbClr val="A2AFAC"/>
                </a:solidFill>
              </a:defRPr>
            </a:pPr>
            <a:r>
              <a:rPr sz="1425" b="0">
                <a:solidFill>
                  <a:srgbClr val="A2AFAC"/>
                </a:solidFill>
              </a:rPr>
              <a:t>생포, 대형 운반, 동시 장치 조작처럼</a:t>
            </a:r>
          </a:p>
          <a:p xmlns:a="http://schemas.openxmlformats.org/drawingml/2006/main">
            <a:pPr algn="l">
              <a:defRPr sz="1425" b="0">
                <a:solidFill>
                  <a:srgbClr val="A2AFAC"/>
                </a:solidFill>
              </a:defRPr>
            </a:pPr>
            <a:r>
              <a:rPr sz="1425" b="0">
                <a:solidFill>
                  <a:srgbClr val="A2AFAC"/>
                </a:solidFill>
              </a:rPr>
              <a:t>역할 분담이 필요한 목표를 수행한다.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7AC750-9930-43B6-AE94-43916342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481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고위험 · 역할 분담 · 월드 변화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7AFFB7-1846-46CB-A430-493D8EA1F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066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F9038A-807A-42D8-9E6B-04587A39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149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2F5F4"/>
                </a:solidFill>
              </a:defRPr>
            </a:defPPr>
            <a:lvl1pPr algn="ctr">
              <a:defRPr sz="1500" b="1">
                <a:solidFill>
                  <a:srgbClr val="F2F5F4"/>
                </a:solidFill>
              </a:defRPr>
            </a:lvl1pPr>
            <a:lvl2pPr algn="ctr">
              <a:defRPr sz="1500" b="1">
                <a:solidFill>
                  <a:srgbClr val="F2F5F4"/>
                </a:solidFill>
              </a:defRPr>
            </a:lvl2pPr>
            <a:lvl3pPr algn="ctr">
              <a:defRPr sz="1500" b="1">
                <a:solidFill>
                  <a:srgbClr val="F2F5F4"/>
                </a:solidFill>
              </a:defRPr>
            </a:lvl3pPr>
            <a:lvl4pPr algn="ctr">
              <a:defRPr sz="1500" b="1">
                <a:solidFill>
                  <a:srgbClr val="F2F5F4"/>
                </a:solidFill>
              </a:defRPr>
            </a:lvl4pPr>
            <a:lvl5pPr algn="ctr">
              <a:defRPr sz="1500" b="1">
                <a:solidFill>
                  <a:srgbClr val="F2F5F4"/>
                </a:solidFill>
              </a:defRPr>
            </a:lvl5pPr>
            <a:lvl6pPr algn="ctr">
              <a:defRPr sz="1500" b="1">
                <a:solidFill>
                  <a:srgbClr val="F2F5F4"/>
                </a:solidFill>
              </a:defRPr>
            </a:lvl6pPr>
            <a:lvl7pPr algn="ctr">
              <a:defRPr sz="1500" b="1">
                <a:solidFill>
                  <a:srgbClr val="F2F5F4"/>
                </a:solidFill>
              </a:defRPr>
            </a:lvl7pPr>
            <a:lvl8pPr algn="ctr">
              <a:defRPr sz="1500" b="1">
                <a:solidFill>
                  <a:srgbClr val="F2F5F4"/>
                </a:solidFill>
              </a:defRPr>
            </a:lvl8pPr>
            <a:lvl9pPr algn="ctr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공동구역의 발견이 특수 탐사를 열고, 특수 탐사의 결과가 공동구역을 바꾼다.</a:t>
            </a:r>
          </a:p>
        </p:txBody>
      </p:sp>
    </p:spTree>
    <p:extLst>
      <p:ext uri="{BB962C8B-B14F-4D97-AF65-F5344CB8AC3E}">
        <p14:creationId xmlns:p14="http://schemas.microsoft.com/office/powerpoint/2010/main" val="9863842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E99863-B360-4F16-B598-3EE241CF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0A9DF-F46A-4AAE-A7D7-89025FE3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SHARED ANOMALOUS ZONE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BD1E03-0CC8-4861-878E-68CA5AC7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공동 이상구역의 작동 방식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29096E-1BB7-4619-B8C5-CF9E244C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27367B-C153-4379-92D7-F1BB201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8E3A0-0E3D-4395-BB34-07FB3515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공간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D19F7-ED36-4AAD-AF17-DA7199AA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668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F2F5F4"/>
                </a:solidFill>
              </a:defRPr>
            </a:defPPr>
            <a:lvl1pPr algn="l">
              <a:defRPr sz="1425" b="0">
                <a:solidFill>
                  <a:srgbClr val="F2F5F4"/>
                </a:solidFill>
              </a:defRPr>
            </a:lvl1pPr>
            <a:lvl2pPr algn="l">
              <a:defRPr sz="1425" b="0">
                <a:solidFill>
                  <a:srgbClr val="F2F5F4"/>
                </a:solidFill>
              </a:defRPr>
            </a:lvl2pPr>
            <a:lvl3pPr algn="l">
              <a:defRPr sz="1425" b="0">
                <a:solidFill>
                  <a:srgbClr val="F2F5F4"/>
                </a:solidFill>
              </a:defRPr>
            </a:lvl3pPr>
            <a:lvl4pPr algn="l">
              <a:defRPr sz="1425" b="0">
                <a:solidFill>
                  <a:srgbClr val="F2F5F4"/>
                </a:solidFill>
              </a:defRPr>
            </a:lvl4pPr>
            <a:lvl5pPr algn="l">
              <a:defRPr sz="1425" b="0">
                <a:solidFill>
                  <a:srgbClr val="F2F5F4"/>
                </a:solidFill>
              </a:defRPr>
            </a:lvl5pPr>
            <a:lvl6pPr algn="l">
              <a:defRPr sz="1425" b="0">
                <a:solidFill>
                  <a:srgbClr val="F2F5F4"/>
                </a:solidFill>
              </a:defRPr>
            </a:lvl6pPr>
            <a:lvl7pPr algn="l">
              <a:defRPr sz="1425" b="0">
                <a:solidFill>
                  <a:srgbClr val="F2F5F4"/>
                </a:solidFill>
              </a:defRPr>
            </a:lvl7pPr>
            <a:lvl8pPr algn="l">
              <a:defRPr sz="1425" b="0">
                <a:solidFill>
                  <a:srgbClr val="F2F5F4"/>
                </a:solidFill>
              </a:defRPr>
            </a:lvl8pPr>
            <a:lvl9pPr algn="l">
              <a:defRPr sz="142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F2F5F4"/>
                </a:solidFill>
              </a:defRPr>
            </a:pPr>
            <a:r>
              <a:rPr sz="1425" b="0">
                <a:solidFill>
                  <a:srgbClr val="F2F5F4"/>
                </a:solidFill>
              </a:rPr>
              <a:t>20~40개 구역 노드 · 인스턴스 6~24시간 유지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DB628-4797-4C24-BE45-C5A127A4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F27778-55F6-4C29-9163-C191F2D6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인원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DD2766-9FAB-429F-AEDE-EA943079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0980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F2F5F4"/>
                </a:solidFill>
              </a:defRPr>
            </a:defPPr>
            <a:lvl1pPr algn="l">
              <a:defRPr sz="1425" b="0">
                <a:solidFill>
                  <a:srgbClr val="F2F5F4"/>
                </a:solidFill>
              </a:defRPr>
            </a:lvl1pPr>
            <a:lvl2pPr algn="l">
              <a:defRPr sz="1425" b="0">
                <a:solidFill>
                  <a:srgbClr val="F2F5F4"/>
                </a:solidFill>
              </a:defRPr>
            </a:lvl2pPr>
            <a:lvl3pPr algn="l">
              <a:defRPr sz="1425" b="0">
                <a:solidFill>
                  <a:srgbClr val="F2F5F4"/>
                </a:solidFill>
              </a:defRPr>
            </a:lvl3pPr>
            <a:lvl4pPr algn="l">
              <a:defRPr sz="1425" b="0">
                <a:solidFill>
                  <a:srgbClr val="F2F5F4"/>
                </a:solidFill>
              </a:defRPr>
            </a:lvl4pPr>
            <a:lvl5pPr algn="l">
              <a:defRPr sz="1425" b="0">
                <a:solidFill>
                  <a:srgbClr val="F2F5F4"/>
                </a:solidFill>
              </a:defRPr>
            </a:lvl5pPr>
            <a:lvl6pPr algn="l">
              <a:defRPr sz="1425" b="0">
                <a:solidFill>
                  <a:srgbClr val="F2F5F4"/>
                </a:solidFill>
              </a:defRPr>
            </a:lvl6pPr>
            <a:lvl7pPr algn="l">
              <a:defRPr sz="1425" b="0">
                <a:solidFill>
                  <a:srgbClr val="F2F5F4"/>
                </a:solidFill>
              </a:defRPr>
            </a:lvl7pPr>
            <a:lvl8pPr algn="l">
              <a:defRPr sz="1425" b="0">
                <a:solidFill>
                  <a:srgbClr val="F2F5F4"/>
                </a:solidFill>
              </a:defRPr>
            </a:lvl8pPr>
            <a:lvl9pPr algn="l">
              <a:defRPr sz="142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F2F5F4"/>
                </a:solidFill>
              </a:defRPr>
            </a:pPr>
            <a:r>
              <a:rPr sz="1425" b="0">
                <a:solidFill>
                  <a:srgbClr val="F2F5F4"/>
                </a:solidFill>
              </a:rPr>
              <a:t>총 20~50명 가정 · 구역별 평시 0~4명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54728-B375-4EF1-AF8F-5D505B28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C3B41-1529-4502-9DDB-64BCDB30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E9C46A"/>
                </a:solidFill>
              </a:defRPr>
            </a:defPPr>
            <a:lvl1pPr algn="l">
              <a:defRPr sz="1500" b="1">
                <a:solidFill>
                  <a:srgbClr val="E9C46A"/>
                </a:solidFill>
              </a:defRPr>
            </a:lvl1pPr>
            <a:lvl2pPr algn="l">
              <a:defRPr sz="1500" b="1">
                <a:solidFill>
                  <a:srgbClr val="E9C46A"/>
                </a:solidFill>
              </a:defRPr>
            </a:lvl2pPr>
            <a:lvl3pPr algn="l">
              <a:defRPr sz="1500" b="1">
                <a:solidFill>
                  <a:srgbClr val="E9C46A"/>
                </a:solidFill>
              </a:defRPr>
            </a:lvl3pPr>
            <a:lvl4pPr algn="l">
              <a:defRPr sz="1500" b="1">
                <a:solidFill>
                  <a:srgbClr val="E9C46A"/>
                </a:solidFill>
              </a:defRPr>
            </a:lvl4pPr>
            <a:lvl5pPr algn="l">
              <a:defRPr sz="1500" b="1">
                <a:solidFill>
                  <a:srgbClr val="E9C46A"/>
                </a:solidFill>
              </a:defRPr>
            </a:lvl5pPr>
            <a:lvl6pPr algn="l">
              <a:defRPr sz="1500" b="1">
                <a:solidFill>
                  <a:srgbClr val="E9C46A"/>
                </a:solidFill>
              </a:defRPr>
            </a:lvl6pPr>
            <a:lvl7pPr algn="l">
              <a:defRPr sz="1500" b="1">
                <a:solidFill>
                  <a:srgbClr val="E9C46A"/>
                </a:solidFill>
              </a:defRPr>
            </a:lvl7pPr>
            <a:lvl8pPr algn="l">
              <a:defRPr sz="1500" b="1">
                <a:solidFill>
                  <a:srgbClr val="E9C46A"/>
                </a:solidFill>
              </a:defRPr>
            </a:lvl8pPr>
            <a:lvl9pPr algn="l">
              <a:defRPr sz="15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E9C46A"/>
                </a:solidFill>
              </a:defRPr>
            </a:pPr>
            <a:r>
              <a:rPr sz="1500" b="1">
                <a:solidFill>
                  <a:srgbClr val="E9C46A"/>
                </a:solidFill>
              </a:rPr>
              <a:t>조우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B8EEE-7C31-46FC-8D25-BBF90EE4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527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F2F5F4"/>
                </a:solidFill>
              </a:defRPr>
            </a:defPPr>
            <a:lvl1pPr algn="l">
              <a:defRPr sz="1425" b="0">
                <a:solidFill>
                  <a:srgbClr val="F2F5F4"/>
                </a:solidFill>
              </a:defRPr>
            </a:lvl1pPr>
            <a:lvl2pPr algn="l">
              <a:defRPr sz="1425" b="0">
                <a:solidFill>
                  <a:srgbClr val="F2F5F4"/>
                </a:solidFill>
              </a:defRPr>
            </a:lvl2pPr>
            <a:lvl3pPr algn="l">
              <a:defRPr sz="1425" b="0">
                <a:solidFill>
                  <a:srgbClr val="F2F5F4"/>
                </a:solidFill>
              </a:defRPr>
            </a:lvl3pPr>
            <a:lvl4pPr algn="l">
              <a:defRPr sz="1425" b="0">
                <a:solidFill>
                  <a:srgbClr val="F2F5F4"/>
                </a:solidFill>
              </a:defRPr>
            </a:lvl4pPr>
            <a:lvl5pPr algn="l">
              <a:defRPr sz="1425" b="0">
                <a:solidFill>
                  <a:srgbClr val="F2F5F4"/>
                </a:solidFill>
              </a:defRPr>
            </a:lvl5pPr>
            <a:lvl6pPr algn="l">
              <a:defRPr sz="1425" b="0">
                <a:solidFill>
                  <a:srgbClr val="F2F5F4"/>
                </a:solidFill>
              </a:defRPr>
            </a:lvl6pPr>
            <a:lvl7pPr algn="l">
              <a:defRPr sz="1425" b="0">
                <a:solidFill>
                  <a:srgbClr val="F2F5F4"/>
                </a:solidFill>
              </a:defRPr>
            </a:lvl7pPr>
            <a:lvl8pPr algn="l">
              <a:defRPr sz="1425" b="0">
                <a:solidFill>
                  <a:srgbClr val="F2F5F4"/>
                </a:solidFill>
              </a:defRPr>
            </a:lvl8pPr>
            <a:lvl9pPr algn="l">
              <a:defRPr sz="142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F2F5F4"/>
                </a:solidFill>
              </a:defRPr>
            </a:pPr>
            <a:r>
              <a:rPr sz="1425" b="0">
                <a:solidFill>
                  <a:srgbClr val="F2F5F4"/>
                </a:solidFill>
              </a:rPr>
              <a:t>체류 시간·소음·빛·구조 신호·추적 행동으로 확률 변화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1B283-7C2D-484E-BE8B-425248DB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0ECEF-CC91-449A-B7C4-21F2A50E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통신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F5F5B5-5ABA-4CAE-A439-77714F56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69570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F2F5F4"/>
                </a:solidFill>
              </a:defRPr>
            </a:defPPr>
            <a:lvl1pPr algn="l">
              <a:defRPr sz="1425" b="0">
                <a:solidFill>
                  <a:srgbClr val="F2F5F4"/>
                </a:solidFill>
              </a:defRPr>
            </a:lvl1pPr>
            <a:lvl2pPr algn="l">
              <a:defRPr sz="1425" b="0">
                <a:solidFill>
                  <a:srgbClr val="F2F5F4"/>
                </a:solidFill>
              </a:defRPr>
            </a:lvl2pPr>
            <a:lvl3pPr algn="l">
              <a:defRPr sz="1425" b="0">
                <a:solidFill>
                  <a:srgbClr val="F2F5F4"/>
                </a:solidFill>
              </a:defRPr>
            </a:lvl3pPr>
            <a:lvl4pPr algn="l">
              <a:defRPr sz="1425" b="0">
                <a:solidFill>
                  <a:srgbClr val="F2F5F4"/>
                </a:solidFill>
              </a:defRPr>
            </a:lvl4pPr>
            <a:lvl5pPr algn="l">
              <a:defRPr sz="1425" b="0">
                <a:solidFill>
                  <a:srgbClr val="F2F5F4"/>
                </a:solidFill>
              </a:defRPr>
            </a:lvl5pPr>
            <a:lvl6pPr algn="l">
              <a:defRPr sz="1425" b="0">
                <a:solidFill>
                  <a:srgbClr val="F2F5F4"/>
                </a:solidFill>
              </a:defRPr>
            </a:lvl6pPr>
            <a:lvl7pPr algn="l">
              <a:defRPr sz="1425" b="0">
                <a:solidFill>
                  <a:srgbClr val="F2F5F4"/>
                </a:solidFill>
              </a:defRPr>
            </a:lvl7pPr>
            <a:lvl8pPr algn="l">
              <a:defRPr sz="1425" b="0">
                <a:solidFill>
                  <a:srgbClr val="F2F5F4"/>
                </a:solidFill>
              </a:defRPr>
            </a:lvl8pPr>
            <a:lvl9pPr algn="l">
              <a:defRPr sz="142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F2F5F4"/>
                </a:solidFill>
              </a:defRPr>
            </a:pPr>
            <a:r>
              <a:rPr sz="1425" b="0">
                <a:solidFill>
                  <a:srgbClr val="F2F5F4"/>
                </a:solidFill>
              </a:rPr>
              <a:t>파티 · 근거리 · 구역 방송 · 정형 구조 신호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4D62EB-D60F-44B3-BA06-8FE8B757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1456DC-510D-4376-B5A5-F2948BB8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38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흔적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F9DE43-6EF2-4188-AD81-81A1F239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386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F2F5F4"/>
                </a:solidFill>
              </a:defRPr>
            </a:defPPr>
            <a:lvl1pPr algn="l">
              <a:defRPr sz="1425" b="0">
                <a:solidFill>
                  <a:srgbClr val="F2F5F4"/>
                </a:solidFill>
              </a:defRPr>
            </a:lvl1pPr>
            <a:lvl2pPr algn="l">
              <a:defRPr sz="1425" b="0">
                <a:solidFill>
                  <a:srgbClr val="F2F5F4"/>
                </a:solidFill>
              </a:defRPr>
            </a:lvl2pPr>
            <a:lvl3pPr algn="l">
              <a:defRPr sz="1425" b="0">
                <a:solidFill>
                  <a:srgbClr val="F2F5F4"/>
                </a:solidFill>
              </a:defRPr>
            </a:lvl3pPr>
            <a:lvl4pPr algn="l">
              <a:defRPr sz="1425" b="0">
                <a:solidFill>
                  <a:srgbClr val="F2F5F4"/>
                </a:solidFill>
              </a:defRPr>
            </a:lvl4pPr>
            <a:lvl5pPr algn="l">
              <a:defRPr sz="1425" b="0">
                <a:solidFill>
                  <a:srgbClr val="F2F5F4"/>
                </a:solidFill>
              </a:defRPr>
            </a:lvl5pPr>
            <a:lvl6pPr algn="l">
              <a:defRPr sz="1425" b="0">
                <a:solidFill>
                  <a:srgbClr val="F2F5F4"/>
                </a:solidFill>
              </a:defRPr>
            </a:lvl6pPr>
            <a:lvl7pPr algn="l">
              <a:defRPr sz="1425" b="0">
                <a:solidFill>
                  <a:srgbClr val="F2F5F4"/>
                </a:solidFill>
              </a:defRPr>
            </a:lvl7pPr>
            <a:lvl8pPr algn="l">
              <a:defRPr sz="1425" b="0">
                <a:solidFill>
                  <a:srgbClr val="F2F5F4"/>
                </a:solidFill>
              </a:defRPr>
            </a:lvl8pPr>
            <a:lvl9pPr algn="l">
              <a:defRPr sz="142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F2F5F4"/>
                </a:solidFill>
              </a:defRPr>
            </a:pPr>
            <a:r>
              <a:rPr sz="1425" b="0">
                <a:solidFill>
                  <a:srgbClr val="F2F5F4"/>
                </a:solidFill>
              </a:rPr>
              <a:t>열린 문·버려진 장비·전투 흔적·지연 무전으로 타인의 존재 표현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1D8ACD-CB68-41BA-877F-CB738ABB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91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C5D578-03B2-4607-9C69-2B7EAB3A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1495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E86D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90FEBD-0F3B-40AB-86ED-850EB2B0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1020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A2AFAC"/>
                </a:solidFill>
              </a:defRPr>
            </a:defPPr>
            <a:lvl1pPr algn="ctr">
              <a:defRPr sz="1425" b="1">
                <a:solidFill>
                  <a:srgbClr val="A2AFAC"/>
                </a:solidFill>
              </a:defRPr>
            </a:lvl1pPr>
            <a:lvl2pPr algn="ctr">
              <a:defRPr sz="1425" b="1">
                <a:solidFill>
                  <a:srgbClr val="A2AFAC"/>
                </a:solidFill>
              </a:defRPr>
            </a:lvl2pPr>
            <a:lvl3pPr algn="ctr">
              <a:defRPr sz="1425" b="1">
                <a:solidFill>
                  <a:srgbClr val="A2AFAC"/>
                </a:solidFill>
              </a:defRPr>
            </a:lvl3pPr>
            <a:lvl4pPr algn="ctr">
              <a:defRPr sz="1425" b="1">
                <a:solidFill>
                  <a:srgbClr val="A2AFAC"/>
                </a:solidFill>
              </a:defRPr>
            </a:lvl4pPr>
            <a:lvl5pPr algn="ctr">
              <a:defRPr sz="1425" b="1">
                <a:solidFill>
                  <a:srgbClr val="A2AFAC"/>
                </a:solidFill>
              </a:defRPr>
            </a:lvl5pPr>
            <a:lvl6pPr algn="ctr">
              <a:defRPr sz="1425" b="1">
                <a:solidFill>
                  <a:srgbClr val="A2AFAC"/>
                </a:solidFill>
              </a:defRPr>
            </a:lvl6pPr>
            <a:lvl7pPr algn="ctr">
              <a:defRPr sz="1425" b="1">
                <a:solidFill>
                  <a:srgbClr val="A2AFAC"/>
                </a:solidFill>
              </a:defRPr>
            </a:lvl7pPr>
            <a:lvl8pPr algn="ctr">
              <a:defRPr sz="1425" b="1">
                <a:solidFill>
                  <a:srgbClr val="A2AFAC"/>
                </a:solidFill>
              </a:defRPr>
            </a:lvl8pPr>
            <a:lvl9pPr algn="ctr">
              <a:defRPr sz="1425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A2AFAC"/>
                </a:solidFill>
              </a:defRPr>
            </a:pPr>
            <a:r>
              <a:rPr sz="1425" b="1">
                <a:solidFill>
                  <a:srgbClr val="A2AFAC"/>
                </a:solidFill>
              </a:rPr>
              <a:t>실제 조우가 없어도 공간 안에 다른 탐사자가 있다는 감각을 유지한다.</a:t>
            </a:r>
          </a:p>
        </p:txBody>
      </p:sp>
    </p:spTree>
    <p:extLst>
      <p:ext uri="{BB962C8B-B14F-4D97-AF65-F5344CB8AC3E}">
        <p14:creationId xmlns:p14="http://schemas.microsoft.com/office/powerpoint/2010/main" val="10789863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CFC20F-C1E5-4EE3-8E52-B96DABC8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A3103-162B-41A7-B67B-480F23C8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CHARACTER STATS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E47F27-9E7A-458B-8CE7-007823E3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10개 기초 능력치와 복합 판정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93F610-6893-4E9F-B3A3-F292C6AC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C1481-9E27-473B-8FC2-23B637D6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5E971F-2960-4D9E-B481-ED9D4DEC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8D6C4"/>
                </a:solidFill>
              </a:defRPr>
            </a:defPPr>
            <a:lvl1pPr algn="l">
              <a:defRPr sz="1650" b="1">
                <a:solidFill>
                  <a:srgbClr val="38D6C4"/>
                </a:solidFill>
              </a:defRPr>
            </a:lvl1pPr>
            <a:lvl2pPr algn="l">
              <a:defRPr sz="1650" b="1">
                <a:solidFill>
                  <a:srgbClr val="38D6C4"/>
                </a:solidFill>
              </a:defRPr>
            </a:lvl2pPr>
            <a:lvl3pPr algn="l">
              <a:defRPr sz="1650" b="1">
                <a:solidFill>
                  <a:srgbClr val="38D6C4"/>
                </a:solidFill>
              </a:defRPr>
            </a:lvl3pPr>
            <a:lvl4pPr algn="l">
              <a:defRPr sz="1650" b="1">
                <a:solidFill>
                  <a:srgbClr val="38D6C4"/>
                </a:solidFill>
              </a:defRPr>
            </a:lvl4pPr>
            <a:lvl5pPr algn="l">
              <a:defRPr sz="1650" b="1">
                <a:solidFill>
                  <a:srgbClr val="38D6C4"/>
                </a:solidFill>
              </a:defRPr>
            </a:lvl5pPr>
            <a:lvl6pPr algn="l">
              <a:defRPr sz="1650" b="1">
                <a:solidFill>
                  <a:srgbClr val="38D6C4"/>
                </a:solidFill>
              </a:defRPr>
            </a:lvl6pPr>
            <a:lvl7pPr algn="l">
              <a:defRPr sz="1650" b="1">
                <a:solidFill>
                  <a:srgbClr val="38D6C4"/>
                </a:solidFill>
              </a:defRPr>
            </a:lvl7pPr>
            <a:lvl8pPr algn="l">
              <a:defRPr sz="1650" b="1">
                <a:solidFill>
                  <a:srgbClr val="38D6C4"/>
                </a:solidFill>
              </a:defRPr>
            </a:lvl8pPr>
            <a:lvl9pPr algn="l">
              <a:defRPr sz="16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38D6C4"/>
                </a:solidFill>
              </a:defRPr>
            </a:pPr>
            <a:r>
              <a:rPr sz="1650" b="1">
                <a:solidFill>
                  <a:srgbClr val="38D6C4"/>
                </a:solidFill>
              </a:rPr>
              <a:t>육체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54EF67-7F4B-4D11-B601-A6A8E6AF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근력  민첩성  지구력  균형감각  유연성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B55828-6046-464B-B941-4119DDD3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668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E9C46A"/>
                </a:solidFill>
              </a:defRPr>
            </a:defPPr>
            <a:lvl1pPr algn="l">
              <a:defRPr sz="1650" b="1">
                <a:solidFill>
                  <a:srgbClr val="E9C46A"/>
                </a:solidFill>
              </a:defRPr>
            </a:lvl1pPr>
            <a:lvl2pPr algn="l">
              <a:defRPr sz="1650" b="1">
                <a:solidFill>
                  <a:srgbClr val="E9C46A"/>
                </a:solidFill>
              </a:defRPr>
            </a:lvl2pPr>
            <a:lvl3pPr algn="l">
              <a:defRPr sz="1650" b="1">
                <a:solidFill>
                  <a:srgbClr val="E9C46A"/>
                </a:solidFill>
              </a:defRPr>
            </a:lvl3pPr>
            <a:lvl4pPr algn="l">
              <a:defRPr sz="1650" b="1">
                <a:solidFill>
                  <a:srgbClr val="E9C46A"/>
                </a:solidFill>
              </a:defRPr>
            </a:lvl4pPr>
            <a:lvl5pPr algn="l">
              <a:defRPr sz="1650" b="1">
                <a:solidFill>
                  <a:srgbClr val="E9C46A"/>
                </a:solidFill>
              </a:defRPr>
            </a:lvl5pPr>
            <a:lvl6pPr algn="l">
              <a:defRPr sz="1650" b="1">
                <a:solidFill>
                  <a:srgbClr val="E9C46A"/>
                </a:solidFill>
              </a:defRPr>
            </a:lvl6pPr>
            <a:lvl7pPr algn="l">
              <a:defRPr sz="1650" b="1">
                <a:solidFill>
                  <a:srgbClr val="E9C46A"/>
                </a:solidFill>
              </a:defRPr>
            </a:lvl7pPr>
            <a:lvl8pPr algn="l">
              <a:defRPr sz="1650" b="1">
                <a:solidFill>
                  <a:srgbClr val="E9C46A"/>
                </a:solidFill>
              </a:defRPr>
            </a:lvl8pPr>
            <a:lvl9pPr algn="l">
              <a:defRPr sz="16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E9C46A"/>
                </a:solidFill>
              </a:defRPr>
            </a:pPr>
            <a:r>
              <a:rPr sz="1650" b="1">
                <a:solidFill>
                  <a:srgbClr val="E9C46A"/>
                </a:solidFill>
              </a:rPr>
              <a:t>정신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FDA4D0-61CF-46A6-9A40-61B285AB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정신력  지능  용기  교활함  행운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90710-1E2B-4B5C-833B-D6F5A184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0CDD4D-9AB3-42AC-8036-05D3ADCE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무너지는 다리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35AB1-E329-41DA-B591-CC45D6F6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4800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민첩성 + 균형감각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8459C8-B22D-43C5-A1F7-6DD54409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84193-2EDE-4D8C-91FB-A4425FF3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부상자 운반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49B78F-BA6C-43F1-AF27-91070EC4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71875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근력 + 지구력 + 용기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2AF0B1-4B4A-4E64-A5B7-6ED78503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E32C87-90E7-4FC5-90A1-832EE14C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공간 규칙 추론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F53D28-C85D-46D2-9C19-8B6C1286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지능 + 정신력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9786E3-ECA4-4526-A091-C8C1AC0E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98072A-E070-4230-A40B-8BC2FCED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이상 존재 기만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871E51-5000-4FC6-8587-D4B1A77E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19625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교활함 + 용기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D7266-7558-4D13-AC5B-CF19762E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387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808D86-EB1D-4379-948A-2FC26C35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좁은 통로 탈출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218A80-3224-41EA-BEFB-EC3141BD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4350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유연성 + 정신력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914BBF-3F87-4F46-95AF-344D4786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626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FBF1FC-0CA5-41A7-99E2-7A16B119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38D6C4"/>
                </a:solidFill>
              </a:defRPr>
            </a:defPPr>
            <a:lvl1pPr algn="ctr">
              <a:defRPr sz="1500" b="1">
                <a:solidFill>
                  <a:srgbClr val="38D6C4"/>
                </a:solidFill>
              </a:defRPr>
            </a:lvl1pPr>
            <a:lvl2pPr algn="ctr">
              <a:defRPr sz="1500" b="1">
                <a:solidFill>
                  <a:srgbClr val="38D6C4"/>
                </a:solidFill>
              </a:defRPr>
            </a:lvl2pPr>
            <a:lvl3pPr algn="ctr">
              <a:defRPr sz="1500" b="1">
                <a:solidFill>
                  <a:srgbClr val="38D6C4"/>
                </a:solidFill>
              </a:defRPr>
            </a:lvl3pPr>
            <a:lvl4pPr algn="ctr">
              <a:defRPr sz="1500" b="1">
                <a:solidFill>
                  <a:srgbClr val="38D6C4"/>
                </a:solidFill>
              </a:defRPr>
            </a:lvl4pPr>
            <a:lvl5pPr algn="ctr">
              <a:defRPr sz="1500" b="1">
                <a:solidFill>
                  <a:srgbClr val="38D6C4"/>
                </a:solidFill>
              </a:defRPr>
            </a:lvl5pPr>
            <a:lvl6pPr algn="ctr">
              <a:defRPr sz="1500" b="1">
                <a:solidFill>
                  <a:srgbClr val="38D6C4"/>
                </a:solidFill>
              </a:defRPr>
            </a:lvl6pPr>
            <a:lvl7pPr algn="ctr">
              <a:defRPr sz="1500" b="1">
                <a:solidFill>
                  <a:srgbClr val="38D6C4"/>
                </a:solidFill>
              </a:defRPr>
            </a:lvl7pPr>
            <a:lvl8pPr algn="ctr">
              <a:defRPr sz="1500" b="1">
                <a:solidFill>
                  <a:srgbClr val="38D6C4"/>
                </a:solidFill>
              </a:defRPr>
            </a:lvl8pPr>
            <a:lvl9pPr algn="ctr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판정 = 관련 능력치 2~3개 + 장비 + 정보 + 신체·정신 상태</a:t>
            </a:r>
          </a:p>
        </p:txBody>
      </p:sp>
    </p:spTree>
    <p:extLst>
      <p:ext uri="{BB962C8B-B14F-4D97-AF65-F5344CB8AC3E}">
        <p14:creationId xmlns:p14="http://schemas.microsoft.com/office/powerpoint/2010/main" val="15652782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3B2D14-4C83-4396-AD43-FA669E2E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30A0A-82A7-45C5-AE74-205C76E2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FEEA5-EEA4-45C3-86B1-16C161A6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시스템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249D7-CD7A-4791-A27E-327576C5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86B0B-0F4C-4D18-AA67-FED09F87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A1A515-C7A9-471C-94E7-369C6D6E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2F5F4"/>
                </a:solidFill>
              </a:defRPr>
            </a:defPPr>
            <a:lvl1pPr algn="l">
              <a:defRPr sz="2325" b="1">
                <a:solidFill>
                  <a:srgbClr val="F2F5F4"/>
                </a:solidFill>
              </a:defRPr>
            </a:lvl1pPr>
            <a:lvl2pPr algn="l">
              <a:defRPr sz="2325" b="1">
                <a:solidFill>
                  <a:srgbClr val="F2F5F4"/>
                </a:solidFill>
              </a:defRPr>
            </a:lvl2pPr>
            <a:lvl3pPr algn="l">
              <a:defRPr sz="2325" b="1">
                <a:solidFill>
                  <a:srgbClr val="F2F5F4"/>
                </a:solidFill>
              </a:defRPr>
            </a:lvl3pPr>
            <a:lvl4pPr algn="l">
              <a:defRPr sz="2325" b="1">
                <a:solidFill>
                  <a:srgbClr val="F2F5F4"/>
                </a:solidFill>
              </a:defRPr>
            </a:lvl4pPr>
            <a:lvl5pPr algn="l">
              <a:defRPr sz="2325" b="1">
                <a:solidFill>
                  <a:srgbClr val="F2F5F4"/>
                </a:solidFill>
              </a:defRPr>
            </a:lvl5pPr>
            <a:lvl6pPr algn="l">
              <a:defRPr sz="2325" b="1">
                <a:solidFill>
                  <a:srgbClr val="F2F5F4"/>
                </a:solidFill>
              </a:defRPr>
            </a:lvl6pPr>
            <a:lvl7pPr algn="l">
              <a:defRPr sz="2325" b="1">
                <a:solidFill>
                  <a:srgbClr val="F2F5F4"/>
                </a:solidFill>
              </a:defRPr>
            </a:lvl7pPr>
            <a:lvl8pPr algn="l">
              <a:defRPr sz="2325" b="1">
                <a:solidFill>
                  <a:srgbClr val="F2F5F4"/>
                </a:solidFill>
              </a:defRPr>
            </a:lvl8pPr>
            <a:lvl9pPr algn="l">
              <a:defRPr sz="23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2F5F4"/>
                </a:solidFill>
              </a:defRPr>
            </a:pPr>
            <a:r>
              <a:rPr sz="2325" b="1">
                <a:solidFill>
                  <a:srgbClr val="F2F5F4"/>
                </a:solidFill>
              </a:rPr>
              <a:t>캐릭터 생성 시 36개 중 5개 선택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AA43A-1809-4348-975B-F6DDA247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각 키워드는 같은 총량의 능력치 보정을 제공하는 1차안이다.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326BAA-BBE9-4004-A132-FFA6E11D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능력치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0BD1B9-E185-4C07-872E-F304A9D5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241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관련 기초 능력치에 +1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A94C2E-F3B2-46D7-AB01-BD90FEC8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2DF37-CA43-46DF-9876-E552E44E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자동 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E195A7-3E48-4646-9F7A-97EF3DA4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사건에서 선택할 행동의 가중치 변화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4D3178-02A5-4C8A-9117-65BA556C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86F2F3-C9AD-4A09-9E7E-04FC2E3E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문장 표현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8E08B2-64EB-4D0C-98B2-4EFDEA0A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576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같은 사건의 태도·대사·행동 묘사 변화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4CD556-6835-48E5-AFF0-F2F5FC11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E3A004-44C2-425A-A13E-37BABA6A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대인 반응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504FF7-BBE1-446E-B031-26F81241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244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상대의 성격과 관계 기록을 함께 참조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7A4B1C-E799-42D1-A9BA-0F1A4470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249429-F555-432B-A5ED-FD3035A0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E9C46A"/>
                </a:solidFill>
              </a:defRPr>
            </a:defPPr>
            <a:lvl1pPr algn="ctr">
              <a:defRPr sz="1500" b="1">
                <a:solidFill>
                  <a:srgbClr val="E9C46A"/>
                </a:solidFill>
              </a:defRPr>
            </a:lvl1pPr>
            <a:lvl2pPr algn="ctr">
              <a:defRPr sz="1500" b="1">
                <a:solidFill>
                  <a:srgbClr val="E9C46A"/>
                </a:solidFill>
              </a:defRPr>
            </a:lvl2pPr>
            <a:lvl3pPr algn="ctr">
              <a:defRPr sz="1500" b="1">
                <a:solidFill>
                  <a:srgbClr val="E9C46A"/>
                </a:solidFill>
              </a:defRPr>
            </a:lvl3pPr>
            <a:lvl4pPr algn="ctr">
              <a:defRPr sz="1500" b="1">
                <a:solidFill>
                  <a:srgbClr val="E9C46A"/>
                </a:solidFill>
              </a:defRPr>
            </a:lvl4pPr>
            <a:lvl5pPr algn="ctr">
              <a:defRPr sz="1500" b="1">
                <a:solidFill>
                  <a:srgbClr val="E9C46A"/>
                </a:solidFill>
              </a:defRPr>
            </a:lvl5pPr>
            <a:lvl6pPr algn="ctr">
              <a:defRPr sz="1500" b="1">
                <a:solidFill>
                  <a:srgbClr val="E9C46A"/>
                </a:solidFill>
              </a:defRPr>
            </a:lvl6pPr>
            <a:lvl7pPr algn="ctr">
              <a:defRPr sz="1500" b="1">
                <a:solidFill>
                  <a:srgbClr val="E9C46A"/>
                </a:solidFill>
              </a:defRPr>
            </a:lvl7pPr>
            <a:lvl8pPr algn="ctr">
              <a:defRPr sz="1500" b="1">
                <a:solidFill>
                  <a:srgbClr val="E9C46A"/>
                </a:solidFill>
              </a:defRPr>
            </a:lvl8pPr>
            <a:lvl9pPr algn="ctr">
              <a:defRPr sz="15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E9C46A"/>
                </a:solidFill>
              </a:defRPr>
            </a:pPr>
            <a:r>
              <a:rPr sz="1500" b="1">
                <a:solidFill>
                  <a:srgbClr val="E9C46A"/>
                </a:solidFill>
              </a:rPr>
              <a:t>플레이어의 사전 방침이 행동 범위를 정하고, 성격은 범위 안에서 구체 행동을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3014064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3F8E64-3EA9-4168-BA9A-80B87DEE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6955B2-FD51-4F28-A1A5-BB338F56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 KEYWORDS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E24A1-0FDE-4181-886B-91919374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키워드 1/3 · 관계와 돌봄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1F74AE-E13C-4724-8CBE-2AB6A2F3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42858-EAB0-4B55-9894-B0BE7E36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39C8A-CA60-487F-B253-824F0703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이타적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C860B-E164-4FB5-8D27-331F2E24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47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277CAF-DA01-4260-A9CD-ABFC41C7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478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부상자와 약자를 먼저 돕는다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44CE39-3593-4BFE-818C-CC9B622A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288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B1C6C-94A0-408D-8C57-DBB9CA7F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용감한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802CA-21DC-4A3A-BD82-F86A76CA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47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8A893-11E3-4006-8B69-BA7DAA42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478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위험한 선행 행동을 자원한다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A9308-97EF-47C7-9121-1D2A2EEE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288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210D3-F9BF-49BA-A379-A5CBA1DF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협조적인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2A477F-F31A-4563-B0BA-F18D6AD6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479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952BA5-21DE-47FB-819C-5E391C9F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79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팀의 계획과 역할 분담을 따른다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53C6A-A001-471C-8837-B1965CE4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2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F73176-C3CF-43B3-A906-27EDEEE0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충성스러운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BDB04E-FB8E-4A97-9ECF-D1C3DC6C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479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B671CB-EBA1-465C-AB69-B9DA2F0C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신뢰하는 대원을 쉽게 버리지 않는다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B75B7A-FC98-4429-805C-6FC026E6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5DFF28-2728-44EE-BD24-090D66EF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사교적인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54BD7F-18D2-4E84-974E-A162B25F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480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428324-ED60-49BE-A0A4-283779E8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먼저 말을 걸고 긴장을 낮춘다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6A29CF-A7A5-4368-BEB9-15CB45A1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EDBCD7-0D05-4A83-988A-1F39B38D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48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공감적인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2B0A9F-A115-4245-8DA4-B44FD166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480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02F82A-5534-488A-8100-8DFDDF6E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상대의 불안과 의도를 빠르게 읽는다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BD04A6-0817-43F9-8EBC-AA4C1D3C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290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387612-3146-47F5-A83C-558CCF89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보호적인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4D2F2D-AB8C-4E39-8BF4-3D718440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481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근력 +1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C67BC2-7221-40D2-AD5B-653E6881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위험과 동료 사이에 선다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4769FD-9D55-4B45-AA3D-6C9BD29E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5538DE-7C1F-4B1F-B199-2E0376FC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자기희생적인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4F7D44-85B5-4522-81AD-3053FBC3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481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494020-BC1A-42A3-AE12-F1B9137D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481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본인의 자원을 써서 타인을 살린다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0DAC3B-B6D1-4EEC-A3C6-57B5C432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29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F4F93D-F41F-4920-BE9A-65CC7306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유머러스한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F8D586-0B4A-4646-A7DA-D7D0C9AA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482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3C860FE-90FA-47E1-BFA7-9C735F72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공포 상황에서 농담으로 분위기를 바꾼다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42178D-DC1A-4432-9A93-2EB71280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292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3F4C05-9363-4E27-8F64-8CCEB9CC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낙관적인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4706C6-E50A-4851-837C-295B71D3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482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E931396-9999-4BCC-9E0A-123A0470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482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실패 뒤에도 전진 가능성을 찾는다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3460DB4-A205-431E-965E-CB38A0BF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D0B98F-7DBC-409C-992C-D2C87E01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인내심 있는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041948C-9BC9-4C17-88C1-67367A31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4483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B342E8-7040-47DF-B486-34552A77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483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느린 절차와 대기를 견딘다</a:t>
            </a:r>
          </a:p>
        </p:txBody>
      </p:sp>
    </p:spTree>
    <p:extLst>
      <p:ext uri="{BB962C8B-B14F-4D97-AF65-F5344CB8AC3E}">
        <p14:creationId xmlns:p14="http://schemas.microsoft.com/office/powerpoint/2010/main" val="17887278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622D43-7873-492A-B5CF-8248A980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D7E52-7FF3-426E-8927-B60797D0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 KEYWORDS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04AAB1-4302-4557-89CA-D8ECAD46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키워드 2/3 · 판단과 통제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36A4C2-C135-4AE5-B7A2-69DE9BAC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62E7E-EA6D-4911-A939-5831341D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A95761-0B20-461E-8E99-1DA87068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신중한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F0BA40-8FAE-4132-932C-238EF407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47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15C06-18BB-4266-AE91-B2AE6651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478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 전 장비와 탈출로를 확인한다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0FCBE-AC0C-44A8-A538-4878224B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288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0ECCC-1093-4884-AE7A-0251A789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경계심 많은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B00206-F895-4274-9DE3-5B37A09F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47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민첩성 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30B03-7230-4319-806F-56DBDF26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478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작은 변화와 매복 징후에 반응한다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B77E4A-E89B-4B05-A02F-51DE8010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288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7B4F13-42F3-4FAB-9C9B-8BDEB9CE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호기심 많은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AAD6C6-5A1A-4EEF-8F58-5BA3F834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479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8FD0E7-369C-4368-A644-250A78F2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79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불명확한 현상을 가까이 조사한다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128BE-D405-4D64-916B-46A0B373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2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7B813-E3F3-41D0-9D18-C92A8038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분석적인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61B4C9-2F47-47AA-838E-F754A690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479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9D42A7-05E2-494E-A3BA-180392DF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기록과 규칙의 모순을 비교한다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7427B1-2754-4B30-B913-C5FD233A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0759A7-CD6C-4275-A6A9-D643C753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임기응변에 강한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C39176-DDB1-427E-849A-56F4CF81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480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유연성 +1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FF26A4-3DAF-4576-BD7F-582C425E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계획이 깨지면 대체 행동을 만든다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48578E-692A-4C07-B04E-01796035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D35EE3-E6FA-4A18-882B-DF6BD37B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48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교활한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BF9643-2912-46D2-80FD-9448ABB9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480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C38EFA-B2F0-456E-B20E-CFF51338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상대와 현상을 속여 유리한 결과를 만든다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E7D16B-9B06-4A32-A939-826606ED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290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D06EDB-D0A9-4C56-AD34-800705A9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의심 많은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F8787C-C02A-4B26-9D0B-5FF365A7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481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C74E1C-BEE5-4639-9966-F2A45AE9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정보와 타인의 말을 바로 믿지 않는다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DAC924-78BC-4015-9487-0BA30C0C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48B485-A6B0-4B37-B4D2-696B616B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냉정한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051CBF-EFCF-4C8E-B29E-1ABE2FD5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481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9BC3B5-B8C6-421D-B979-CB297214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481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관계보다 생존 확률을 우선한다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9607A3-4ADC-4A17-B6F5-1A65EE10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29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E522CF-7834-480B-B37E-82A93B93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꼼꼼한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3FBED5-AD65-4552-9E76-FDA7EC84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482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균형감각 +1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88CA29-491A-4023-8B7B-E218EAC5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절차와 소지품을 반복 확인한다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B9EBD93-28D5-4646-A2AD-C7BB6264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292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70C018E-9826-4E66-B853-FE5245EE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질서정연한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F75219-7C3E-4022-9EF4-BFD9CC94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482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E03DF0-6576-44B4-8C1B-198C60EB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482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대열과 자원 분배를 정리한다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E6BFB82-69BD-456E-AB0B-FBD4BFB1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9AF017-90AD-4899-A3C1-09225D4E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적응력 있는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8BC4CD8-B12D-4CE6-AB8A-F53BF4EE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4483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유연성 +1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1621DD9-C874-4F80-96DD-5817719E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483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새 규칙에 빠르게 행동을 맞춘다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379DB86-4942-4425-8397-B081F169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293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F15EED-AC8D-4286-92E2-D0B83F2A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규율적인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A2C01E-F449-4AED-8692-C2665243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848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F30FA60-E732-4FCB-A44B-BDD8E4B0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8483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합의한 방침을 끝까지 지킨다</a:t>
            </a:r>
          </a:p>
        </p:txBody>
      </p:sp>
    </p:spTree>
    <p:extLst>
      <p:ext uri="{BB962C8B-B14F-4D97-AF65-F5344CB8AC3E}">
        <p14:creationId xmlns:p14="http://schemas.microsoft.com/office/powerpoint/2010/main" val="3533165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A0FFC1E-94D3-4FEB-B90B-792214A5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6DBCB-FC24-4EF4-AD0F-7E0C18B4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 KEYWORDS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B2E27E-376F-4885-86BF-A11F74BD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키워드 3/3 · 욕망과 독립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82F66-9EDC-4820-8529-884218DA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063AE8-9F11-4989-9FB3-14772BB9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7D3DC-D568-481D-8DC4-13FF87E2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야심찬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2A4F9-FD0A-442B-A49C-1D470840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47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786949-49FF-460A-9090-543B4730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47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높은 성과와 깊은 단계 진입을 원한다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9261E8-DD0D-4BD1-8AAC-B178225C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48C048-EA82-48EF-8CA7-A9130E07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28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경쟁적인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83D71A-CEE6-491E-B620-FB690D20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28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민첩성 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36E3B5-BCB5-48B7-9C96-DDE57AD8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28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기여도와 전리품에서 앞서려 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FA980B-38A8-4BF1-8685-EE4D2BB0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90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C9A211-02DA-412D-9D6A-EB421773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직설적인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CC0595-89D8-488B-8C0F-A9D58D98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09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근력 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DADD60-9146-46E8-B010-820B0631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09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의심과 반대를 숨기지 않고 말한다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3AA8C1-BDE7-4944-818C-7F8F9853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AC0E71-5D20-428E-A5DC-B22DF2AF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충동적인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83E235-F2B6-47EE-A4F5-0C967CE8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90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민첩성 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D2F00A-E7CC-4455-B396-2BFF531F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90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확인보다 행동을 먼저 시작한다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FED2CE-C30B-49D6-8D6F-6CC823C4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2CB2E2-9379-472D-BA0F-DB43E79B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71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집요한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A5618D-FB78-48E6-B8F5-DB592B6E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71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A31ABA-962B-4F8D-8EE1-C4BFE897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71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실패한 시도를 다른 방식으로 반복한다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D581B3-B0E2-4261-86A6-9F81336C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7B70C0-C986-4704-AD3B-34A8B729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비관적인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2AA924-8BFF-4DB8-842E-29BF3F6F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51F396-EFB5-4C54-BA40-0FB7B653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최악의 경우를 가정해 철수를 준비한다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1CC2E4-3004-4769-AC79-5AB4E9A8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C61055-096C-4A2C-8D00-04ECBCB0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탐욕스러운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CDAF3E-D07D-4B66-BF42-B93F1C57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33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34F5B0-1FAF-437B-98F6-619FE52B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33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가치 높은 물건을 우선 확보한다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C6761D-3D8B-42FD-BCAB-32D67F2E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04F9A5-9A48-413C-BB78-CD419958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14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검소한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C19D9F-9227-4007-A13F-B00B2672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114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8FEA01-9046-4A8A-8DF3-86536893C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소모품 사용과 손실을 최소화한다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4CE1BB-BF5F-460B-8A7C-F0B9E91C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9FC297-3D18-4CAC-9520-D44D62B2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95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수집광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889D90-D928-4A84-AB9B-64B97CF8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95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E1A8BD-2D4C-47C3-8B59-5AFF4A55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95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쓸모가 불명확한 물건도 챙긴다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7F93ACC-EF31-4882-8799-0E6FEB62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EB649A7-1B54-46B7-A605-4C7F3F76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독립적인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F61203-41A9-4153-82EB-9D1CB651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76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288048E-5812-4CC1-B019-6936B6E3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76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동료 승인 없이 스스로 판단한다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9AA658-0EAC-4EA1-B2A8-BFA2112F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38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BEAE7E-3185-44D9-93AE-796DFD95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반항적인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DA2DF78-19FA-453A-A635-4450DCAB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57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BC6A304-652E-4B83-92AD-BBD564AC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57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명령과 다수 의견에 다른 선택을 낸다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3A4ABE0-A76D-4FD0-B4DC-7B03B235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19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1A8C8C-21A4-4EC1-8C4E-18E53EF3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비밀스러운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1514C2-3139-418D-A869-5A571E2F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638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0F46F2-510D-4FA2-9950-86427C21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638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발견과 감정을 늦게 공유한다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9C1185-EADB-44F5-80CC-92A45923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00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CC1D44F-5991-47CF-879E-D8DBA622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미신적인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E9C4C4E-AFDC-427A-8321-04462B59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6019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4A4BEC7-BFDE-49AB-9E9B-B479C625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019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징조와 개인 의식을 판단에 반영한다</a:t>
            </a:r>
          </a:p>
        </p:txBody>
      </p:sp>
    </p:spTree>
    <p:extLst>
      <p:ext uri="{BB962C8B-B14F-4D97-AF65-F5344CB8AC3E}">
        <p14:creationId xmlns:p14="http://schemas.microsoft.com/office/powerpoint/2010/main" val="4383223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5BB4D-98CB-495F-BB7B-57AF6EA0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0F82B-23A0-405F-9D6F-62EE46DA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AUTONOMOUS NARRATIVE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B585C-ED31-4304-B7A6-B6FC4BB7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자동 탐사 씬과 관계 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1CAD56-6733-4B6C-AAC7-701574BA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995C88-6F9E-422F-B814-D2D1DAA3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6AB175-D20D-4909-BD18-8B4445DD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5D972-E4CD-4110-A868-DE53CDDF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668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관찰 사각에서 동료 한 명이 사라지기 시작한다.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EC8DC-EE53-47BB-972A-A0FC168E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70130-FC28-4DD8-8C78-7443A42D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479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성격 반응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5DE37D-236F-4B92-8267-0A073151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4792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이타적 대원은 손을 뻗고, 신중한 대원은 안전줄부터 고정한다.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B2F0C8-DA57-4709-A467-E3F97B17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289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F9C5E-5625-439A-8389-A35774C5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관계 반응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3F6C5C-38E8-45CD-9136-AF6682D6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290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신뢰가 높으면 구조에 동참하고, 마찰이 높으면 책임을 따진다.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C96668-381B-4297-B978-AD65B332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A32563-D7BB-447B-900B-A3026EC9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8F7BA2-8960-487C-922C-35528E27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1007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부상·물자·정보·관계 근거가 함께 변한다.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B79D2D-DDB1-41A1-8FE7-DAB32BB9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00C339-F6EB-431E-9FD7-3E76C2F3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A2AFAC"/>
                </a:solidFill>
              </a:defRPr>
            </a:defPPr>
            <a:lvl1pPr algn="ctr">
              <a:defRPr sz="1500" b="1">
                <a:solidFill>
                  <a:srgbClr val="A2AFAC"/>
                </a:solidFill>
              </a:defRPr>
            </a:lvl1pPr>
            <a:lvl2pPr algn="ctr">
              <a:defRPr sz="1500" b="1">
                <a:solidFill>
                  <a:srgbClr val="A2AFAC"/>
                </a:solidFill>
              </a:defRPr>
            </a:lvl2pPr>
            <a:lvl3pPr algn="ctr">
              <a:defRPr sz="1500" b="1">
                <a:solidFill>
                  <a:srgbClr val="A2AFAC"/>
                </a:solidFill>
              </a:defRPr>
            </a:lvl3pPr>
            <a:lvl4pPr algn="ctr">
              <a:defRPr sz="1500" b="1">
                <a:solidFill>
                  <a:srgbClr val="A2AFAC"/>
                </a:solidFill>
              </a:defRPr>
            </a:lvl4pPr>
            <a:lvl5pPr algn="ctr">
              <a:defRPr sz="1500" b="1">
                <a:solidFill>
                  <a:srgbClr val="A2AFAC"/>
                </a:solidFill>
              </a:defRPr>
            </a:lvl5pPr>
            <a:lvl6pPr algn="ctr">
              <a:defRPr sz="1500" b="1">
                <a:solidFill>
                  <a:srgbClr val="A2AFAC"/>
                </a:solidFill>
              </a:defRPr>
            </a:lvl6pPr>
            <a:lvl7pPr algn="ctr">
              <a:defRPr sz="1500" b="1">
                <a:solidFill>
                  <a:srgbClr val="A2AFAC"/>
                </a:solidFill>
              </a:defRPr>
            </a:lvl7pPr>
            <a:lvl8pPr algn="ctr">
              <a:defRPr sz="1500" b="1">
                <a:solidFill>
                  <a:srgbClr val="A2AFAC"/>
                </a:solidFill>
              </a:defRPr>
            </a:lvl8pPr>
            <a:lvl9pPr algn="ctr">
              <a:defRPr sz="15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2AFAC"/>
                </a:solidFill>
              </a:defRPr>
            </a:pPr>
            <a:r>
              <a:rPr sz="1500" b="1">
                <a:solidFill>
                  <a:srgbClr val="A2AFAC"/>
                </a:solidFill>
              </a:rPr>
              <a:t>행동문장 = 인지 → 판단·감정 → 행동 → 상대 반응·관계 결과</a:t>
            </a:r>
          </a:p>
        </p:txBody>
      </p:sp>
    </p:spTree>
    <p:extLst>
      <p:ext uri="{BB962C8B-B14F-4D97-AF65-F5344CB8AC3E}">
        <p14:creationId xmlns:p14="http://schemas.microsoft.com/office/powerpoint/2010/main" val="17579085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BE9CE0-09A9-4601-871D-5987B405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AA374-F705-4BA1-827F-7559D01F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BEHAVIOR MODES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12DD0-FCBB-4D7C-9280-D6A6D70D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상황에 따라 달라지는 대인 행동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341135-B7FF-436E-90F0-10488909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EBF3F-314F-49AD-A8B3-07F36C98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85DAE-56A2-4D89-A7AE-6D268782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716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다섯 판단 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9D9532-0441-424C-9D0C-C4AB7BF1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01  자기 보존 ↔ 집단 우선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06C833-968F-4FD8-8B1D-BC82B8D7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B0D13C-F3C2-4F55-A45D-C78BA0C3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8602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02  위험 회피 ↔ 위험 감수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A73723-3B12-401F-B7AE-802E2185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CC3E57-93CC-4EF7-A3C7-C440F470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03  신뢰 ↔ 의심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415363-AC89-4BA9-B978-33FC9150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528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CF3D50-EA24-488D-9EF3-AC2B33D2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6237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04  주도 ↔ 추종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CC4D2F-C7A2-47FC-BC4F-F856B747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558D2C-7556-46A7-AD23-FE3857CE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005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05  관계·호혜 민감도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298A54-9ACD-4D75-9526-5155E674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2917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8039E3-1E55-4617-9C62-56B3CFCE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3716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E9C46A"/>
                </a:solidFill>
              </a:defRPr>
            </a:defPPr>
            <a:lvl1pPr algn="l">
              <a:defRPr sz="1500" b="1">
                <a:solidFill>
                  <a:srgbClr val="E9C46A"/>
                </a:solidFill>
              </a:defRPr>
            </a:lvl1pPr>
            <a:lvl2pPr algn="l">
              <a:defRPr sz="1500" b="1">
                <a:solidFill>
                  <a:srgbClr val="E9C46A"/>
                </a:solidFill>
              </a:defRPr>
            </a:lvl2pPr>
            <a:lvl3pPr algn="l">
              <a:defRPr sz="1500" b="1">
                <a:solidFill>
                  <a:srgbClr val="E9C46A"/>
                </a:solidFill>
              </a:defRPr>
            </a:lvl3pPr>
            <a:lvl4pPr algn="l">
              <a:defRPr sz="1500" b="1">
                <a:solidFill>
                  <a:srgbClr val="E9C46A"/>
                </a:solidFill>
              </a:defRPr>
            </a:lvl4pPr>
            <a:lvl5pPr algn="l">
              <a:defRPr sz="1500" b="1">
                <a:solidFill>
                  <a:srgbClr val="E9C46A"/>
                </a:solidFill>
              </a:defRPr>
            </a:lvl5pPr>
            <a:lvl6pPr algn="l">
              <a:defRPr sz="1500" b="1">
                <a:solidFill>
                  <a:srgbClr val="E9C46A"/>
                </a:solidFill>
              </a:defRPr>
            </a:lvl6pPr>
            <a:lvl7pPr algn="l">
              <a:defRPr sz="1500" b="1">
                <a:solidFill>
                  <a:srgbClr val="E9C46A"/>
                </a:solidFill>
              </a:defRPr>
            </a:lvl7pPr>
            <a:lvl8pPr algn="l">
              <a:defRPr sz="1500" b="1">
                <a:solidFill>
                  <a:srgbClr val="E9C46A"/>
                </a:solidFill>
              </a:defRPr>
            </a:lvl8pPr>
            <a:lvl9pPr algn="l">
              <a:defRPr sz="15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E9C46A"/>
                </a:solidFill>
              </a:defRPr>
            </a:pPr>
            <a:r>
              <a:rPr sz="1500" b="1">
                <a:solidFill>
                  <a:srgbClr val="E9C46A"/>
                </a:solidFill>
              </a:rPr>
              <a:t>열 가지 행동 양식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277535-E70D-4EAF-8444-DD6604BB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847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01  무조건적 협조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0A214-DFB6-4249-A5F6-991B4981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47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02  보호적 협조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F08B49-A576-45ED-B2D3-B5497CE1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4860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03  절차적 협조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019AC2-D4B0-45EB-8C2C-26B8F063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860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04  조건부 협조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854624-C140-49AB-B457-F1EB5A2A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1242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05  호혜적 협조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E7356B-0A35-47CA-AC2B-97C13038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1242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06  거래적 협조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6AE93A-DE03-4DD8-9C26-F18BC139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7623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07  경쟁적 비협조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E9D505-0F47-4296-AF9F-8CFE1396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08  회피적 자기보존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DBAF5D-A69B-4ACA-B29E-05E50FD0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4005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09  기회주의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4470CB-2045-4475-8EAF-17FFE495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005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E86D65"/>
                </a:solidFill>
              </a:defRPr>
            </a:defPPr>
            <a:lvl1pPr algn="l">
              <a:defRPr sz="1275" b="1">
                <a:solidFill>
                  <a:srgbClr val="E86D65"/>
                </a:solidFill>
              </a:defRPr>
            </a:lvl1pPr>
            <a:lvl2pPr algn="l">
              <a:defRPr sz="1275" b="1">
                <a:solidFill>
                  <a:srgbClr val="E86D65"/>
                </a:solidFill>
              </a:defRPr>
            </a:lvl2pPr>
            <a:lvl3pPr algn="l">
              <a:defRPr sz="1275" b="1">
                <a:solidFill>
                  <a:srgbClr val="E86D65"/>
                </a:solidFill>
              </a:defRPr>
            </a:lvl3pPr>
            <a:lvl4pPr algn="l">
              <a:defRPr sz="1275" b="1">
                <a:solidFill>
                  <a:srgbClr val="E86D65"/>
                </a:solidFill>
              </a:defRPr>
            </a:lvl4pPr>
            <a:lvl5pPr algn="l">
              <a:defRPr sz="1275" b="1">
                <a:solidFill>
                  <a:srgbClr val="E86D65"/>
                </a:solidFill>
              </a:defRPr>
            </a:lvl5pPr>
            <a:lvl6pPr algn="l">
              <a:defRPr sz="1275" b="1">
                <a:solidFill>
                  <a:srgbClr val="E86D65"/>
                </a:solidFill>
              </a:defRPr>
            </a:lvl6pPr>
            <a:lvl7pPr algn="l">
              <a:defRPr sz="1275" b="1">
                <a:solidFill>
                  <a:srgbClr val="E86D65"/>
                </a:solidFill>
              </a:defRPr>
            </a:lvl7pPr>
            <a:lvl8pPr algn="l">
              <a:defRPr sz="1275" b="1">
                <a:solidFill>
                  <a:srgbClr val="E86D65"/>
                </a:solidFill>
              </a:defRPr>
            </a:lvl8pPr>
            <a:lvl9pPr algn="l">
              <a:defRPr sz="1275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E86D65"/>
                </a:solidFill>
              </a:defRPr>
            </a:pPr>
            <a:r>
              <a:rPr sz="1275" b="1">
                <a:solidFill>
                  <a:srgbClr val="E86D65"/>
                </a:solidFill>
              </a:rPr>
              <a:t>10  적대적 방해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11186D-0AA5-4DF6-A043-B0680592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62550"/>
            <a:ext cx="609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E86D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494E4E-92F1-4287-A92C-7DB83582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276850"/>
            <a:ext cx="565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A2AFAC"/>
                </a:solidFill>
              </a:defRPr>
            </a:defPPr>
            <a:lvl1pPr algn="ctr">
              <a:defRPr sz="1275" b="1">
                <a:solidFill>
                  <a:srgbClr val="A2AFAC"/>
                </a:solidFill>
              </a:defRPr>
            </a:lvl1pPr>
            <a:lvl2pPr algn="ctr">
              <a:defRPr sz="1275" b="1">
                <a:solidFill>
                  <a:srgbClr val="A2AFAC"/>
                </a:solidFill>
              </a:defRPr>
            </a:lvl2pPr>
            <a:lvl3pPr algn="ctr">
              <a:defRPr sz="1275" b="1">
                <a:solidFill>
                  <a:srgbClr val="A2AFAC"/>
                </a:solidFill>
              </a:defRPr>
            </a:lvl3pPr>
            <a:lvl4pPr algn="ctr">
              <a:defRPr sz="1275" b="1">
                <a:solidFill>
                  <a:srgbClr val="A2AFAC"/>
                </a:solidFill>
              </a:defRPr>
            </a:lvl4pPr>
            <a:lvl5pPr algn="ctr">
              <a:defRPr sz="1275" b="1">
                <a:solidFill>
                  <a:srgbClr val="A2AFAC"/>
                </a:solidFill>
              </a:defRPr>
            </a:lvl5pPr>
            <a:lvl6pPr algn="ctr">
              <a:defRPr sz="1275" b="1">
                <a:solidFill>
                  <a:srgbClr val="A2AFAC"/>
                </a:solidFill>
              </a:defRPr>
            </a:lvl6pPr>
            <a:lvl7pPr algn="ctr">
              <a:defRPr sz="1275" b="1">
                <a:solidFill>
                  <a:srgbClr val="A2AFAC"/>
                </a:solidFill>
              </a:defRPr>
            </a:lvl7pPr>
            <a:lvl8pPr algn="ctr">
              <a:defRPr sz="1275" b="1">
                <a:solidFill>
                  <a:srgbClr val="A2AFAC"/>
                </a:solidFill>
              </a:defRPr>
            </a:lvl8pPr>
            <a:lvl9pPr algn="ctr">
              <a:defRPr sz="1275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A2AFAC"/>
                </a:solidFill>
              </a:defRPr>
            </a:pPr>
            <a:r>
              <a:rPr sz="1275" b="1">
                <a:solidFill>
                  <a:srgbClr val="A2AFAC"/>
                </a:solidFill>
              </a:rPr>
              <a:t>적대적 방해는 낮은 신뢰·강한 이해 충돌·실질적 이익이 겹칠 때만 드물게 발생한다.</a:t>
            </a:r>
          </a:p>
        </p:txBody>
      </p:sp>
    </p:spTree>
    <p:extLst>
      <p:ext uri="{BB962C8B-B14F-4D97-AF65-F5344CB8AC3E}">
        <p14:creationId xmlns:p14="http://schemas.microsoft.com/office/powerpoint/2010/main" val="2915097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3F6061-6814-49F1-935B-2B869A4E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1486E-8FEF-4DED-92B3-1E64C11B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VARIATION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7E7316-9E1D-4D9C-BE4B-546A1BA6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한 상황에서 몇 문장까지 가능한가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C3575-24E5-4673-B59D-EE1C6813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B178C-EABD-489B-9CEF-F6B5A2B4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A45303-8F45-42B9-9571-197A0413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38D6C4"/>
                </a:solidFill>
              </a:defRPr>
            </a:defPPr>
            <a:lvl1pPr algn="l">
              <a:defRPr sz="1575" b="1">
                <a:solidFill>
                  <a:srgbClr val="38D6C4"/>
                </a:solidFill>
              </a:defRPr>
            </a:lvl1pPr>
            <a:lvl2pPr algn="l">
              <a:defRPr sz="1575" b="1">
                <a:solidFill>
                  <a:srgbClr val="38D6C4"/>
                </a:solidFill>
              </a:defRPr>
            </a:lvl2pPr>
            <a:lvl3pPr algn="l">
              <a:defRPr sz="1575" b="1">
                <a:solidFill>
                  <a:srgbClr val="38D6C4"/>
                </a:solidFill>
              </a:defRPr>
            </a:lvl3pPr>
            <a:lvl4pPr algn="l">
              <a:defRPr sz="1575" b="1">
                <a:solidFill>
                  <a:srgbClr val="38D6C4"/>
                </a:solidFill>
              </a:defRPr>
            </a:lvl4pPr>
            <a:lvl5pPr algn="l">
              <a:defRPr sz="1575" b="1">
                <a:solidFill>
                  <a:srgbClr val="38D6C4"/>
                </a:solidFill>
              </a:defRPr>
            </a:lvl5pPr>
            <a:lvl6pPr algn="l">
              <a:defRPr sz="1575" b="1">
                <a:solidFill>
                  <a:srgbClr val="38D6C4"/>
                </a:solidFill>
              </a:defRPr>
            </a:lvl6pPr>
            <a:lvl7pPr algn="l">
              <a:defRPr sz="1575" b="1">
                <a:solidFill>
                  <a:srgbClr val="38D6C4"/>
                </a:solidFill>
              </a:defRPr>
            </a:lvl7pPr>
            <a:lvl8pPr algn="l">
              <a:defRPr sz="1575" b="1">
                <a:solidFill>
                  <a:srgbClr val="38D6C4"/>
                </a:solidFill>
              </a:defRPr>
            </a:lvl8pPr>
            <a:lvl9pPr algn="l">
              <a:defRPr sz="15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38D6C4"/>
                </a:solidFill>
              </a:defRPr>
            </a:pPr>
            <a:r>
              <a:rPr sz="1575" b="1">
                <a:solidFill>
                  <a:srgbClr val="38D6C4"/>
                </a:solidFill>
              </a:rPr>
              <a:t>이론적 판정 상태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97396-EC88-41FF-93AC-669806F9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2F5F4"/>
                </a:solidFill>
              </a:defRPr>
            </a:defPPr>
            <a:lvl1pPr algn="l">
              <a:defRPr sz="2250" b="1">
                <a:solidFill>
                  <a:srgbClr val="F2F5F4"/>
                </a:solidFill>
              </a:defRPr>
            </a:lvl1pPr>
            <a:lvl2pPr algn="l">
              <a:defRPr sz="2250" b="1">
                <a:solidFill>
                  <a:srgbClr val="F2F5F4"/>
                </a:solidFill>
              </a:defRPr>
            </a:lvl2pPr>
            <a:lvl3pPr algn="l">
              <a:defRPr sz="2250" b="1">
                <a:solidFill>
                  <a:srgbClr val="F2F5F4"/>
                </a:solidFill>
              </a:defRPr>
            </a:lvl3pPr>
            <a:lvl4pPr algn="l">
              <a:defRPr sz="2250" b="1">
                <a:solidFill>
                  <a:srgbClr val="F2F5F4"/>
                </a:solidFill>
              </a:defRPr>
            </a:lvl4pPr>
            <a:lvl5pPr algn="l">
              <a:defRPr sz="2250" b="1">
                <a:solidFill>
                  <a:srgbClr val="F2F5F4"/>
                </a:solidFill>
              </a:defRPr>
            </a:lvl5pPr>
            <a:lvl6pPr algn="l">
              <a:defRPr sz="2250" b="1">
                <a:solidFill>
                  <a:srgbClr val="F2F5F4"/>
                </a:solidFill>
              </a:defRPr>
            </a:lvl6pPr>
            <a:lvl7pPr algn="l">
              <a:defRPr sz="2250" b="1">
                <a:solidFill>
                  <a:srgbClr val="F2F5F4"/>
                </a:solidFill>
              </a:defRPr>
            </a:lvl7pPr>
            <a:lvl8pPr algn="l">
              <a:defRPr sz="2250" b="1">
                <a:solidFill>
                  <a:srgbClr val="F2F5F4"/>
                </a:solidFill>
              </a:defRPr>
            </a:lvl8pPr>
            <a:lvl9pPr algn="l">
              <a:defRPr sz="22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2F5F4"/>
                </a:solidFill>
              </a:defRPr>
            </a:pPr>
            <a:r>
              <a:rPr sz="2250" b="1">
                <a:solidFill>
                  <a:srgbClr val="F2F5F4"/>
                </a:solidFill>
              </a:rPr>
              <a:t>36C5 = 376,992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221965-F521-415A-924E-E2A3CF7F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241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캐릭터 한 명의 성격 조합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0870F1-2C68-42BB-9C48-CFAB692B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376,992² × 10 × 6 × 4 ×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CEF8E7-67B1-4872-A4F8-E8420ADD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38D6C4"/>
                </a:solidFill>
              </a:defRPr>
            </a:defPPr>
            <a:lvl1pPr algn="l">
              <a:defRPr sz="3150" b="1">
                <a:solidFill>
                  <a:srgbClr val="38D6C4"/>
                </a:solidFill>
              </a:defRPr>
            </a:lvl1pPr>
            <a:lvl2pPr algn="l">
              <a:defRPr sz="3150" b="1">
                <a:solidFill>
                  <a:srgbClr val="38D6C4"/>
                </a:solidFill>
              </a:defRPr>
            </a:lvl2pPr>
            <a:lvl3pPr algn="l">
              <a:defRPr sz="3150" b="1">
                <a:solidFill>
                  <a:srgbClr val="38D6C4"/>
                </a:solidFill>
              </a:defRPr>
            </a:lvl3pPr>
            <a:lvl4pPr algn="l">
              <a:defRPr sz="3150" b="1">
                <a:solidFill>
                  <a:srgbClr val="38D6C4"/>
                </a:solidFill>
              </a:defRPr>
            </a:lvl4pPr>
            <a:lvl5pPr algn="l">
              <a:defRPr sz="3150" b="1">
                <a:solidFill>
                  <a:srgbClr val="38D6C4"/>
                </a:solidFill>
              </a:defRPr>
            </a:lvl5pPr>
            <a:lvl6pPr algn="l">
              <a:defRPr sz="3150" b="1">
                <a:solidFill>
                  <a:srgbClr val="38D6C4"/>
                </a:solidFill>
              </a:defRPr>
            </a:lvl6pPr>
            <a:lvl7pPr algn="l">
              <a:defRPr sz="3150" b="1">
                <a:solidFill>
                  <a:srgbClr val="38D6C4"/>
                </a:solidFill>
              </a:defRPr>
            </a:lvl7pPr>
            <a:lvl8pPr algn="l">
              <a:defRPr sz="3150" b="1">
                <a:solidFill>
                  <a:srgbClr val="38D6C4"/>
                </a:solidFill>
              </a:defRPr>
            </a:lvl8pPr>
            <a:lvl9pPr algn="l">
              <a:defRPr sz="31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38D6C4"/>
                </a:solidFill>
              </a:defRPr>
            </a:pPr>
            <a:r>
              <a:rPr sz="3150" b="1">
                <a:solidFill>
                  <a:srgbClr val="38D6C4"/>
                </a:solidFill>
              </a:rPr>
              <a:t>≈ 102.3조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BB7893-DCAF-4A87-8AFC-B9E5E6D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57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2AFAC"/>
                </a:solidFill>
              </a:defRPr>
            </a:defPPr>
            <a:lvl1pPr algn="l">
              <a:defRPr sz="1200" b="0">
                <a:solidFill>
                  <a:srgbClr val="A2AFAC"/>
                </a:solidFill>
              </a:defRPr>
            </a:lvl1pPr>
            <a:lvl2pPr algn="l">
              <a:defRPr sz="1200" b="0">
                <a:solidFill>
                  <a:srgbClr val="A2AFAC"/>
                </a:solidFill>
              </a:defRPr>
            </a:lvl2pPr>
            <a:lvl3pPr algn="l">
              <a:defRPr sz="1200" b="0">
                <a:solidFill>
                  <a:srgbClr val="A2AFAC"/>
                </a:solidFill>
              </a:defRPr>
            </a:lvl3pPr>
            <a:lvl4pPr algn="l">
              <a:defRPr sz="1200" b="0">
                <a:solidFill>
                  <a:srgbClr val="A2AFAC"/>
                </a:solidFill>
              </a:defRPr>
            </a:lvl4pPr>
            <a:lvl5pPr algn="l">
              <a:defRPr sz="1200" b="0">
                <a:solidFill>
                  <a:srgbClr val="A2AFAC"/>
                </a:solidFill>
              </a:defRPr>
            </a:lvl5pPr>
            <a:lvl6pPr algn="l">
              <a:defRPr sz="1200" b="0">
                <a:solidFill>
                  <a:srgbClr val="A2AFAC"/>
                </a:solidFill>
              </a:defRPr>
            </a:lvl6pPr>
            <a:lvl7pPr algn="l">
              <a:defRPr sz="1200" b="0">
                <a:solidFill>
                  <a:srgbClr val="A2AFAC"/>
                </a:solidFill>
              </a:defRPr>
            </a:lvl7pPr>
            <a:lvl8pPr algn="l">
              <a:defRPr sz="1200" b="0">
                <a:solidFill>
                  <a:srgbClr val="A2AFAC"/>
                </a:solidFill>
              </a:defRPr>
            </a:lvl8pPr>
            <a:lvl9pPr algn="l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두 캐릭터 × 행동 양식 × 관계 × 상태 × 물자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5D385A-E600-47AA-BE01-7BBC123C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09700"/>
            <a:ext cx="514350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3E10B-E354-4296-A68B-FBC1DAD1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E9C46A"/>
                </a:solidFill>
              </a:defRPr>
            </a:defPPr>
            <a:lvl1pPr algn="ctr">
              <a:defRPr sz="1575" b="1">
                <a:solidFill>
                  <a:srgbClr val="E9C46A"/>
                </a:solidFill>
              </a:defRPr>
            </a:lvl1pPr>
            <a:lvl2pPr algn="ctr">
              <a:defRPr sz="1575" b="1">
                <a:solidFill>
                  <a:srgbClr val="E9C46A"/>
                </a:solidFill>
              </a:defRPr>
            </a:lvl2pPr>
            <a:lvl3pPr algn="ctr">
              <a:defRPr sz="1575" b="1">
                <a:solidFill>
                  <a:srgbClr val="E9C46A"/>
                </a:solidFill>
              </a:defRPr>
            </a:lvl3pPr>
            <a:lvl4pPr algn="ctr">
              <a:defRPr sz="1575" b="1">
                <a:solidFill>
                  <a:srgbClr val="E9C46A"/>
                </a:solidFill>
              </a:defRPr>
            </a:lvl4pPr>
            <a:lvl5pPr algn="ctr">
              <a:defRPr sz="1575" b="1">
                <a:solidFill>
                  <a:srgbClr val="E9C46A"/>
                </a:solidFill>
              </a:defRPr>
            </a:lvl5pPr>
            <a:lvl6pPr algn="ctr">
              <a:defRPr sz="1575" b="1">
                <a:solidFill>
                  <a:srgbClr val="E9C46A"/>
                </a:solidFill>
              </a:defRPr>
            </a:lvl6pPr>
            <a:lvl7pPr algn="ctr">
              <a:defRPr sz="1575" b="1">
                <a:solidFill>
                  <a:srgbClr val="E9C46A"/>
                </a:solidFill>
              </a:defRPr>
            </a:lvl7pPr>
            <a:lvl8pPr algn="ctr">
              <a:defRPr sz="1575" b="1">
                <a:solidFill>
                  <a:srgbClr val="E9C46A"/>
                </a:solidFill>
              </a:defRPr>
            </a:lvl8pPr>
            <a:lvl9pPr algn="ctr">
              <a:defRPr sz="1575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E9C46A"/>
                </a:solidFill>
              </a:defRPr>
            </a:pPr>
            <a:r>
              <a:rPr sz="1575" b="1">
                <a:solidFill>
                  <a:srgbClr val="E9C46A"/>
                </a:solidFill>
              </a:rPr>
              <a:t>실무용 모듈 문장 조합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1F7F09-C4DE-4A21-86F5-5755AD89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449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1">
                <a:solidFill>
                  <a:srgbClr val="F2F5F4"/>
                </a:solidFill>
              </a:defRPr>
            </a:defPPr>
            <a:lvl1pPr algn="ctr">
              <a:defRPr sz="2025" b="1">
                <a:solidFill>
                  <a:srgbClr val="F2F5F4"/>
                </a:solidFill>
              </a:defRPr>
            </a:lvl1pPr>
            <a:lvl2pPr algn="ctr">
              <a:defRPr sz="2025" b="1">
                <a:solidFill>
                  <a:srgbClr val="F2F5F4"/>
                </a:solidFill>
              </a:defRPr>
            </a:lvl2pPr>
            <a:lvl3pPr algn="ctr">
              <a:defRPr sz="2025" b="1">
                <a:solidFill>
                  <a:srgbClr val="F2F5F4"/>
                </a:solidFill>
              </a:defRPr>
            </a:lvl3pPr>
            <a:lvl4pPr algn="ctr">
              <a:defRPr sz="2025" b="1">
                <a:solidFill>
                  <a:srgbClr val="F2F5F4"/>
                </a:solidFill>
              </a:defRPr>
            </a:lvl4pPr>
            <a:lvl5pPr algn="ctr">
              <a:defRPr sz="2025" b="1">
                <a:solidFill>
                  <a:srgbClr val="F2F5F4"/>
                </a:solidFill>
              </a:defRPr>
            </a:lvl5pPr>
            <a:lvl6pPr algn="ctr">
              <a:defRPr sz="2025" b="1">
                <a:solidFill>
                  <a:srgbClr val="F2F5F4"/>
                </a:solidFill>
              </a:defRPr>
            </a:lvl6pPr>
            <a:lvl7pPr algn="ctr">
              <a:defRPr sz="2025" b="1">
                <a:solidFill>
                  <a:srgbClr val="F2F5F4"/>
                </a:solidFill>
              </a:defRPr>
            </a:lvl7pPr>
            <a:lvl8pPr algn="ctr">
              <a:defRPr sz="2025" b="1">
                <a:solidFill>
                  <a:srgbClr val="F2F5F4"/>
                </a:solidFill>
              </a:defRPr>
            </a:lvl8pPr>
            <a:lvl9pPr algn="ctr">
              <a:defRPr sz="20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F2F5F4"/>
                </a:solidFill>
              </a:defRPr>
            </a:pPr>
            <a:r>
              <a:rPr sz="2025" b="1">
                <a:solidFill>
                  <a:srgbClr val="F2F5F4"/>
                </a:solidFill>
              </a:rPr>
              <a:t>12 × 10 × 10 × 8 × 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340B8-E241-466A-BA81-4442A6DE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8130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0">
                <a:solidFill>
                  <a:srgbClr val="A2AFAC"/>
                </a:solidFill>
              </a:defRPr>
            </a:defPPr>
            <a:lvl1pPr algn="ctr">
              <a:defRPr sz="1275" b="0">
                <a:solidFill>
                  <a:srgbClr val="A2AFAC"/>
                </a:solidFill>
              </a:defRPr>
            </a:lvl1pPr>
            <a:lvl2pPr algn="ctr">
              <a:defRPr sz="1275" b="0">
                <a:solidFill>
                  <a:srgbClr val="A2AFAC"/>
                </a:solidFill>
              </a:defRPr>
            </a:lvl2pPr>
            <a:lvl3pPr algn="ctr">
              <a:defRPr sz="1275" b="0">
                <a:solidFill>
                  <a:srgbClr val="A2AFAC"/>
                </a:solidFill>
              </a:defRPr>
            </a:lvl3pPr>
            <a:lvl4pPr algn="ctr">
              <a:defRPr sz="1275" b="0">
                <a:solidFill>
                  <a:srgbClr val="A2AFAC"/>
                </a:solidFill>
              </a:defRPr>
            </a:lvl4pPr>
            <a:lvl5pPr algn="ctr">
              <a:defRPr sz="1275" b="0">
                <a:solidFill>
                  <a:srgbClr val="A2AFAC"/>
                </a:solidFill>
              </a:defRPr>
            </a:lvl5pPr>
            <a:lvl6pPr algn="ctr">
              <a:defRPr sz="1275" b="0">
                <a:solidFill>
                  <a:srgbClr val="A2AFAC"/>
                </a:solidFill>
              </a:defRPr>
            </a:lvl6pPr>
            <a:lvl7pPr algn="ctr">
              <a:defRPr sz="1275" b="0">
                <a:solidFill>
                  <a:srgbClr val="A2AFAC"/>
                </a:solidFill>
              </a:defRPr>
            </a:lvl7pPr>
            <a:lvl8pPr algn="ctr">
              <a:defRPr sz="1275" b="0">
                <a:solidFill>
                  <a:srgbClr val="A2AFAC"/>
                </a:solidFill>
              </a:defRPr>
            </a:lvl8pPr>
            <a:lvl9pPr algn="ctr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인지 · 판단 · 행동 · 반응 ·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320C65-A38B-4FD7-B8AF-84FAB0D2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57550"/>
            <a:ext cx="4495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000" b="1">
                <a:solidFill>
                  <a:srgbClr val="E9C46A"/>
                </a:solidFill>
              </a:defRPr>
            </a:defPPr>
            <a:lvl1pPr algn="ctr">
              <a:defRPr sz="3000" b="1">
                <a:solidFill>
                  <a:srgbClr val="E9C46A"/>
                </a:solidFill>
              </a:defRPr>
            </a:lvl1pPr>
            <a:lvl2pPr algn="ctr">
              <a:defRPr sz="3000" b="1">
                <a:solidFill>
                  <a:srgbClr val="E9C46A"/>
                </a:solidFill>
              </a:defRPr>
            </a:lvl2pPr>
            <a:lvl3pPr algn="ctr">
              <a:defRPr sz="3000" b="1">
                <a:solidFill>
                  <a:srgbClr val="E9C46A"/>
                </a:solidFill>
              </a:defRPr>
            </a:lvl3pPr>
            <a:lvl4pPr algn="ctr">
              <a:defRPr sz="3000" b="1">
                <a:solidFill>
                  <a:srgbClr val="E9C46A"/>
                </a:solidFill>
              </a:defRPr>
            </a:lvl4pPr>
            <a:lvl5pPr algn="ctr">
              <a:defRPr sz="3000" b="1">
                <a:solidFill>
                  <a:srgbClr val="E9C46A"/>
                </a:solidFill>
              </a:defRPr>
            </a:lvl5pPr>
            <a:lvl6pPr algn="ctr">
              <a:defRPr sz="3000" b="1">
                <a:solidFill>
                  <a:srgbClr val="E9C46A"/>
                </a:solidFill>
              </a:defRPr>
            </a:lvl6pPr>
            <a:lvl7pPr algn="ctr">
              <a:defRPr sz="3000" b="1">
                <a:solidFill>
                  <a:srgbClr val="E9C46A"/>
                </a:solidFill>
              </a:defRPr>
            </a:lvl7pPr>
            <a:lvl8pPr algn="ctr">
              <a:defRPr sz="3000" b="1">
                <a:solidFill>
                  <a:srgbClr val="E9C46A"/>
                </a:solidFill>
              </a:defRPr>
            </a:lvl8pPr>
            <a:lvl9pPr algn="ctr">
              <a:defRPr sz="30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3000" b="1">
                <a:solidFill>
                  <a:srgbClr val="E9C46A"/>
                </a:solidFill>
              </a:defRPr>
            </a:pPr>
            <a:r>
              <a:rPr sz="3000" b="1">
                <a:solidFill>
                  <a:srgbClr val="E9C46A"/>
                </a:solidFill>
              </a:rPr>
              <a:t>57,600개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2D5C19-1588-4B91-ADB6-2076CF70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433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A2AFAC"/>
                </a:solidFill>
              </a:defRPr>
            </a:defPPr>
            <a:lvl1pPr algn="ctr">
              <a:defRPr sz="1200" b="0">
                <a:solidFill>
                  <a:srgbClr val="A2AFAC"/>
                </a:solidFill>
              </a:defRPr>
            </a:lvl1pPr>
            <a:lvl2pPr algn="ctr">
              <a:defRPr sz="1200" b="0">
                <a:solidFill>
                  <a:srgbClr val="A2AFAC"/>
                </a:solidFill>
              </a:defRPr>
            </a:lvl2pPr>
            <a:lvl3pPr algn="ctr">
              <a:defRPr sz="1200" b="0">
                <a:solidFill>
                  <a:srgbClr val="A2AFAC"/>
                </a:solidFill>
              </a:defRPr>
            </a:lvl3pPr>
            <a:lvl4pPr algn="ctr">
              <a:defRPr sz="1200" b="0">
                <a:solidFill>
                  <a:srgbClr val="A2AFAC"/>
                </a:solidFill>
              </a:defRPr>
            </a:lvl4pPr>
            <a:lvl5pPr algn="ctr">
              <a:defRPr sz="1200" b="0">
                <a:solidFill>
                  <a:srgbClr val="A2AFAC"/>
                </a:solidFill>
              </a:defRPr>
            </a:lvl5pPr>
            <a:lvl6pPr algn="ctr">
              <a:defRPr sz="1200" b="0">
                <a:solidFill>
                  <a:srgbClr val="A2AFAC"/>
                </a:solidFill>
              </a:defRPr>
            </a:lvl6pPr>
            <a:lvl7pPr algn="ctr">
              <a:defRPr sz="1200" b="0">
                <a:solidFill>
                  <a:srgbClr val="A2AFAC"/>
                </a:solidFill>
              </a:defRPr>
            </a:lvl7pPr>
            <a:lvl8pPr algn="ctr">
              <a:defRPr sz="1200" b="0">
                <a:solidFill>
                  <a:srgbClr val="A2AFAC"/>
                </a:solidFill>
              </a:defRPr>
            </a:lvl8pPr>
            <a:lvl9pPr algn="ctr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문법·인과·중복 필터 전 최대치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D1AED2-9B9C-4137-B5FC-47576B5D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006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F2F5F4"/>
                </a:solidFill>
              </a:defRPr>
            </a:defPPr>
            <a:lvl1pPr algn="ctr">
              <a:defRPr sz="1425" b="1">
                <a:solidFill>
                  <a:srgbClr val="F2F5F4"/>
                </a:solidFill>
              </a:defRPr>
            </a:lvl1pPr>
            <a:lvl2pPr algn="ctr">
              <a:defRPr sz="1425" b="1">
                <a:solidFill>
                  <a:srgbClr val="F2F5F4"/>
                </a:solidFill>
              </a:defRPr>
            </a:lvl2pPr>
            <a:lvl3pPr algn="ctr">
              <a:defRPr sz="1425" b="1">
                <a:solidFill>
                  <a:srgbClr val="F2F5F4"/>
                </a:solidFill>
              </a:defRPr>
            </a:lvl3pPr>
            <a:lvl4pPr algn="ctr">
              <a:defRPr sz="1425" b="1">
                <a:solidFill>
                  <a:srgbClr val="F2F5F4"/>
                </a:solidFill>
              </a:defRPr>
            </a:lvl4pPr>
            <a:lvl5pPr algn="ctr">
              <a:defRPr sz="1425" b="1">
                <a:solidFill>
                  <a:srgbClr val="F2F5F4"/>
                </a:solidFill>
              </a:defRPr>
            </a:lvl5pPr>
            <a:lvl6pPr algn="ctr">
              <a:defRPr sz="1425" b="1">
                <a:solidFill>
                  <a:srgbClr val="F2F5F4"/>
                </a:solidFill>
              </a:defRPr>
            </a:lvl6pPr>
            <a:lvl7pPr algn="ctr">
              <a:defRPr sz="1425" b="1">
                <a:solidFill>
                  <a:srgbClr val="F2F5F4"/>
                </a:solidFill>
              </a:defRPr>
            </a:lvl7pPr>
            <a:lvl8pPr algn="ctr">
              <a:defRPr sz="1425" b="1">
                <a:solidFill>
                  <a:srgbClr val="F2F5F4"/>
                </a:solidFill>
              </a:defRPr>
            </a:lvl8pPr>
            <a:lvl9pPr algn="ctr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102.3조는 상태 공간이며 실제 문장 수가 아니다. 핵심 사건은 의미가 구별되는 100~500개부터 제작한다.</a:t>
            </a:r>
          </a:p>
        </p:txBody>
      </p:sp>
    </p:spTree>
    <p:extLst>
      <p:ext uri="{BB962C8B-B14F-4D97-AF65-F5344CB8AC3E}">
        <p14:creationId xmlns:p14="http://schemas.microsoft.com/office/powerpoint/2010/main" val="10591573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1A650C-EFD6-4E18-82DD-DA0A66D8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17B84C-4AD3-4CBB-BFF2-46F82B4E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LOOT &amp; LOSS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5B551-01CE-4EE9-9451-DBDE1642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무기·아이템·현장 드롭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E56053-CF05-48F4-896B-3F338074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816014-A130-4DFC-B490-6F4185A9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EBD212-B153-4D2B-A760-41726F9E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F42B0-F568-4B2F-9C2B-C7F34075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공격력·명중·사거리·행동 속도와 대응 가능한 적 유형을 통해 전투력에 직접 영향을 준다.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1A14E-BF0C-4978-903C-19C7FE22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기능 아이템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9B4B4-FEED-40B9-AA2B-92D3DA51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치료·탐색·운반·은폐·오염 방지 등 탐사의 부수 효과를 제공한다.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3CA8F2-30BA-4EB4-93AA-B3424C2C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판매 아이템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3B37D-69D5-44D3-82EA-DE0A307F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상점에 판매해 크레딧과 제작·연구 재화를 얻는다.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249F20-2906-4FB9-8C55-6AD80FB7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38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서사 아이템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F02F4-883A-4471-8D94-C91A0C78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623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로켓 목걸이에 상대 사진을 넣는 것처럼 관계·대화·자동 씬을 바꾼다.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B6F322-DA12-4318-8884-CD6455C4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11049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E86D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710211-8E12-4D62-B719-39E1A5C8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29200"/>
            <a:ext cx="10629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2F5F4"/>
                </a:solidFill>
              </a:defRPr>
            </a:defPPr>
            <a:lvl1pPr algn="ctr">
              <a:defRPr sz="1500" b="1">
                <a:solidFill>
                  <a:srgbClr val="F2F5F4"/>
                </a:solidFill>
              </a:defRPr>
            </a:lvl1pPr>
            <a:lvl2pPr algn="ctr">
              <a:defRPr sz="1500" b="1">
                <a:solidFill>
                  <a:srgbClr val="F2F5F4"/>
                </a:solidFill>
              </a:defRPr>
            </a:lvl2pPr>
            <a:lvl3pPr algn="ctr">
              <a:defRPr sz="1500" b="1">
                <a:solidFill>
                  <a:srgbClr val="F2F5F4"/>
                </a:solidFill>
              </a:defRPr>
            </a:lvl3pPr>
            <a:lvl4pPr algn="ctr">
              <a:defRPr sz="1500" b="1">
                <a:solidFill>
                  <a:srgbClr val="F2F5F4"/>
                </a:solidFill>
              </a:defRPr>
            </a:lvl4pPr>
            <a:lvl5pPr algn="ctr">
              <a:defRPr sz="1500" b="1">
                <a:solidFill>
                  <a:srgbClr val="F2F5F4"/>
                </a:solidFill>
              </a:defRPr>
            </a:lvl5pPr>
            <a:lvl6pPr algn="ctr">
              <a:defRPr sz="1500" b="1">
                <a:solidFill>
                  <a:srgbClr val="F2F5F4"/>
                </a:solidFill>
              </a:defRPr>
            </a:lvl6pPr>
            <a:lvl7pPr algn="ctr">
              <a:defRPr sz="1500" b="1">
                <a:solidFill>
                  <a:srgbClr val="F2F5F4"/>
                </a:solidFill>
              </a:defRPr>
            </a:lvl7pPr>
            <a:lvl8pPr algn="ctr">
              <a:defRPr sz="1500" b="1">
                <a:solidFill>
                  <a:srgbClr val="F2F5F4"/>
                </a:solidFill>
              </a:defRPr>
            </a:lvl8pPr>
            <a:lvl9pPr algn="ctr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사망·실종·강제 귀환 시 장비와 수확물을 현장에 떨어뜨릴 수 있다. 후속 탐사나 동료가 회수하지 못하면 잃는다.</a:t>
            </a:r>
          </a:p>
        </p:txBody>
      </p:sp>
    </p:spTree>
    <p:extLst>
      <p:ext uri="{BB962C8B-B14F-4D97-AF65-F5344CB8AC3E}">
        <p14:creationId xmlns:p14="http://schemas.microsoft.com/office/powerpoint/2010/main" val="94111373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6E13BB-4931-4E97-B959-18BB1427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43466-C593-4A72-8570-4E07813F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78D57-7DC5-45C5-BB8B-7A8F5049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탐사 정보와 개인 노트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47ED0D-E875-47CB-8B7B-B1B58CF4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B2C5E4-65AE-4A06-B2B1-D8D019F8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0C133-5525-46A6-BFD0-BAEF1107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42428B-B722-49A7-9EE1-74E94BE3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47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사건 목격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43F0B-2972-4515-BF2B-67C6D0F7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478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자신 또는 팀원이 규칙 후보를 발견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A56987-DD65-4D9A-9723-8B8C79B5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F27B8D-6CAD-410A-99ED-E15F39B6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885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22B0B-32C9-4155-8351-4106DD89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28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암호문 작성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88DEF-6E95-4C2A-87FF-24E5BB88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288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제한된 어휘와 문형으로 한마디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254059-C1CA-4579-800F-DF03CC70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2E6E88-8A17-4226-B170-AFF861B3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C93E2F-020B-4CF3-AA31-F94ED36B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후보 전달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7276DF-3843-41F2-8ACD-391E624A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99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같은 탐사대 안에서만 공유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A4628-D9D4-49D2-BEB9-9CA39706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70DB5F-6383-4358-8922-E0CE26F3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1482BB-D218-4C43-BB82-1EE5297B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909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하나 선택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29971-AD4D-4F2D-85D6-4C15E316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플레이어당 탐사 1회에 최대 1개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A1B15B-4F9B-474D-9ACA-67C54DC7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34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A167D6-0FFF-454F-9DC9-EF1551CB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24CAB5-AA08-4509-9DBC-E1110605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72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노트 저장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0DB8D7-4501-4845-AED4-9E81EDB8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720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최초 생성자 닉네임과 검증 이력 보존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43501C-1C2D-4C5D-B85B-FAF0696E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244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93A974-D3FA-49B2-BE8D-BC6F3F37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E9C46A"/>
                </a:solidFill>
              </a:defRPr>
            </a:defPPr>
            <a:lvl1pPr algn="ctr">
              <a:defRPr sz="1500" b="1">
                <a:solidFill>
                  <a:srgbClr val="E9C46A"/>
                </a:solidFill>
              </a:defRPr>
            </a:lvl1pPr>
            <a:lvl2pPr algn="ctr">
              <a:defRPr sz="1500" b="1">
                <a:solidFill>
                  <a:srgbClr val="E9C46A"/>
                </a:solidFill>
              </a:defRPr>
            </a:lvl2pPr>
            <a:lvl3pPr algn="ctr">
              <a:defRPr sz="1500" b="1">
                <a:solidFill>
                  <a:srgbClr val="E9C46A"/>
                </a:solidFill>
              </a:defRPr>
            </a:lvl3pPr>
            <a:lvl4pPr algn="ctr">
              <a:defRPr sz="1500" b="1">
                <a:solidFill>
                  <a:srgbClr val="E9C46A"/>
                </a:solidFill>
              </a:defRPr>
            </a:lvl4pPr>
            <a:lvl5pPr algn="ctr">
              <a:defRPr sz="1500" b="1">
                <a:solidFill>
                  <a:srgbClr val="E9C46A"/>
                </a:solidFill>
              </a:defRPr>
            </a:lvl5pPr>
            <a:lvl6pPr algn="ctr">
              <a:defRPr sz="1500" b="1">
                <a:solidFill>
                  <a:srgbClr val="E9C46A"/>
                </a:solidFill>
              </a:defRPr>
            </a:lvl6pPr>
            <a:lvl7pPr algn="ctr">
              <a:defRPr sz="1500" b="1">
                <a:solidFill>
                  <a:srgbClr val="E9C46A"/>
                </a:solidFill>
              </a:defRPr>
            </a:lvl7pPr>
            <a:lvl8pPr algn="ctr">
              <a:defRPr sz="1500" b="1">
                <a:solidFill>
                  <a:srgbClr val="E9C46A"/>
                </a:solidFill>
              </a:defRPr>
            </a:lvl8pPr>
            <a:lvl9pPr algn="ctr">
              <a:defRPr sz="15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E9C46A"/>
                </a:solidFill>
              </a:defRPr>
            </a:pPr>
            <a:r>
              <a:rPr sz="1500" b="1">
                <a:solidFill>
                  <a:srgbClr val="E9C46A"/>
                </a:solidFill>
              </a:rPr>
              <a:t>솔로는 자신의 관찰 하나를 기록한다. 파티는 여러 관점을 동시에 보존하므로 집단 진척이 빠르다.</a:t>
            </a:r>
          </a:p>
        </p:txBody>
      </p:sp>
    </p:spTree>
    <p:extLst>
      <p:ext uri="{BB962C8B-B14F-4D97-AF65-F5344CB8AC3E}">
        <p14:creationId xmlns:p14="http://schemas.microsoft.com/office/powerpoint/2010/main" val="5470901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B74394-1D6E-4A7D-9724-1BFEFB52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A9B096-0B69-4384-8411-18B79DBE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PROGRESSION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610A2A-6576-4314-BE09-535D5DC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사망·성장과 후속 결정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151607-B600-4622-8399-285EC255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1101AF-052A-49D5-A90F-FAA43EB5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7E6A9-9950-4058-AB8C-43F3844D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사망과 복귀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59282-2CA2-4A07-89CF-15E37C51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14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영구 사망은 없다. 미확정 수확물과 자산 일부 또는 캐릭터 레벨을 잃고 연구소로 돌아온다.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A6940-0A65-4821-A124-59C59AA5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859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보존되는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4D3B78-1CA7-458E-8FEE-E9C5E78B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14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이름·외형·성격·칭호·관계·개인 노트와 서사 기록은 유지한다.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D33A8C-DF36-462A-B477-9DBF3E53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후속 확정 항목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04F24E-C13E-40A8-9D4C-C0FB35BD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01  사망 시 자산과 레벨 손실 비율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F9735A-E9FC-45CC-8B90-BF97092C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338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02  성격 조합의 상충·중첩 규칙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399B20-FDB2-4C91-873E-0EFECD61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03  무기 전투력 공식과 장비 등급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70269-9B1E-4B38-BC1D-259C5932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815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04  현장 드롭의 회수 가능 시간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147C9-A08B-4B58-A992-800101B3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05  서사 아이템 슬롯과 거래 제한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3D791A-0B13-451E-96DA-80ECEF2E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292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06  깊이 단계별 전진·철수 응답 방식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CBCB59-528A-4D71-B4D9-8394AA6B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0">
                <a:solidFill>
                  <a:srgbClr val="A2AFAC"/>
                </a:solidFill>
              </a:defRPr>
            </a:defPPr>
            <a:lvl1pPr algn="ctr">
              <a:defRPr sz="1125" b="0">
                <a:solidFill>
                  <a:srgbClr val="A2AFAC"/>
                </a:solidFill>
              </a:defRPr>
            </a:lvl1pPr>
            <a:lvl2pPr algn="ctr">
              <a:defRPr sz="1125" b="0">
                <a:solidFill>
                  <a:srgbClr val="A2AFAC"/>
                </a:solidFill>
              </a:defRPr>
            </a:lvl2pPr>
            <a:lvl3pPr algn="ctr">
              <a:defRPr sz="1125" b="0">
                <a:solidFill>
                  <a:srgbClr val="A2AFAC"/>
                </a:solidFill>
              </a:defRPr>
            </a:lvl3pPr>
            <a:lvl4pPr algn="ctr">
              <a:defRPr sz="1125" b="0">
                <a:solidFill>
                  <a:srgbClr val="A2AFAC"/>
                </a:solidFill>
              </a:defRPr>
            </a:lvl4pPr>
            <a:lvl5pPr algn="ctr">
              <a:defRPr sz="1125" b="0">
                <a:solidFill>
                  <a:srgbClr val="A2AFAC"/>
                </a:solidFill>
              </a:defRPr>
            </a:lvl5pPr>
            <a:lvl6pPr algn="ctr">
              <a:defRPr sz="1125" b="0">
                <a:solidFill>
                  <a:srgbClr val="A2AFAC"/>
                </a:solidFill>
              </a:defRPr>
            </a:lvl6pPr>
            <a:lvl7pPr algn="ctr">
              <a:defRPr sz="1125" b="0">
                <a:solidFill>
                  <a:srgbClr val="A2AFAC"/>
                </a:solidFill>
              </a:defRPr>
            </a:lvl7pPr>
            <a:lvl8pPr algn="ctr">
              <a:defRPr sz="1125" b="0">
                <a:solidFill>
                  <a:srgbClr val="A2AFAC"/>
                </a:solidFill>
              </a:defRPr>
            </a:lvl8pPr>
            <a:lvl9pPr algn="ctr">
              <a:defRPr sz="112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A2AFAC"/>
                </a:solidFill>
              </a:defRPr>
            </a:pPr>
            <a:r>
              <a:rPr sz="1125" b="0">
                <a:solidFill>
                  <a:srgbClr val="A2AFAC"/>
                </a:solidFill>
              </a:rPr>
              <a:t>현재 웹 구현은 이전 4인 프로토타입이며, 새 기준의 수치 확정 뒤 재구현한다.</a:t>
            </a:r>
          </a:p>
        </p:txBody>
      </p:sp>
    </p:spTree>
    <p:extLst>
      <p:ext uri="{BB962C8B-B14F-4D97-AF65-F5344CB8AC3E}">
        <p14:creationId xmlns:p14="http://schemas.microsoft.com/office/powerpoint/2010/main" val="17664422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2026-10-24T04:16:16.6390000Z</dcterms:created>
  <dcterms:modified xsi:type="dcterms:W3CDTF">2026-10-24T04:16:16.6390000Z</dcterms:modified>
</coreProperties>
</file>